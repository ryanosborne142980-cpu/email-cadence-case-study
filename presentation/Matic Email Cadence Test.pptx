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DM Serif Display" pitchFamily="2" charset="0"/>
      <p:regular r:id="rId5"/>
    </p:embeddedFont>
    <p:embeddedFont>
      <p:font typeface="Roboto" panose="02000000000000000000" pitchFamily="2" charset="0"/>
      <p:regular r:id="rId6"/>
      <p:bold r:id="rId7"/>
    </p:embeddedFont>
    <p:embeddedFont>
      <p:font typeface="Roboto Mono" panose="00000009000000000000" pitchFamily="49" charset="0"/>
      <p:regular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2_slid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2_slid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s3_slid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s3_slid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57200" y="256032"/>
            <a:ext cx="5486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3B78DB"/>
                </a:solidFill>
                <a:latin typeface="Roboto"/>
                <a:ea typeface="Roboto"/>
                <a:cs typeface="Roboto"/>
                <a:sym typeface="Roboto"/>
              </a:rPr>
              <a:t>EMAIL CADENCE TEST  ·  DECEMBER 2018</a:t>
            </a:r>
            <a:endParaRPr sz="1100" b="1">
              <a:solidFill>
                <a:srgbClr val="3B78D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57200" y="530352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416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Half the emails cost a quarter of the sales</a:t>
            </a:r>
            <a:endParaRPr sz="3000">
              <a:solidFill>
                <a:srgbClr val="1416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4048" y="1325880"/>
            <a:ext cx="34746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b="1">
                <a:solidFill>
                  <a:srgbClr val="E2506B"/>
                </a:solidFill>
                <a:latin typeface="Roboto"/>
                <a:ea typeface="Roboto"/>
                <a:cs typeface="Roboto"/>
                <a:sym typeface="Roboto"/>
              </a:rPr>
              <a:t>−</a:t>
            </a:r>
            <a:r>
              <a:rPr lang="en" sz="8000">
                <a:solidFill>
                  <a:srgbClr val="E2506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25%</a:t>
            </a:r>
            <a:endParaRPr sz="8000">
              <a:solidFill>
                <a:srgbClr val="E2506B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57200" y="2606040"/>
            <a:ext cx="3291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sales and premium per prospect</a:t>
            </a:r>
            <a:endParaRPr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57200" y="3063240"/>
            <a:ext cx="329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≈ $58K less premium</a:t>
            </a:r>
            <a:endParaRPr sz="1800" b="1">
              <a:solidFill>
                <a:srgbClr val="1416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57200" y="3429000"/>
            <a:ext cx="3291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across the 44.6K-prospect test group</a:t>
            </a:r>
            <a:endParaRPr sz="12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206240" y="1325880"/>
            <a:ext cx="2377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WHERE THE LOSS HAPPENS</a:t>
            </a:r>
            <a:endParaRPr sz="1100" b="1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6537960" y="1444752"/>
            <a:ext cx="128100" cy="100500"/>
          </a:xfrm>
          <a:prstGeom prst="rect">
            <a:avLst/>
          </a:prstGeom>
          <a:solidFill>
            <a:srgbClr val="3B78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6693408" y="1325880"/>
            <a:ext cx="868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8 emails</a:t>
            </a:r>
            <a:endParaRPr sz="10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7589520" y="1444752"/>
            <a:ext cx="128100" cy="100500"/>
          </a:xfrm>
          <a:prstGeom prst="rect">
            <a:avLst/>
          </a:prstGeom>
          <a:solidFill>
            <a:srgbClr val="E250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7744968" y="1325880"/>
            <a:ext cx="960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4 emails</a:t>
            </a:r>
            <a:endParaRPr sz="10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4206240" y="1682496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Visited landing page</a:t>
            </a:r>
            <a:endParaRPr sz="1300" b="1">
              <a:solidFill>
                <a:srgbClr val="1416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4206240" y="1938528"/>
            <a:ext cx="19203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7085"/>
                </a:solidFill>
                <a:latin typeface="Roboto Mono"/>
                <a:ea typeface="Roboto Mono"/>
                <a:cs typeface="Roboto Mono"/>
                <a:sym typeface="Roboto Mono"/>
              </a:rPr>
              <a:t>3.99% → 3.20%</a:t>
            </a:r>
            <a:endParaRPr sz="1100">
              <a:solidFill>
                <a:srgbClr val="66708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6126480" y="1773936"/>
            <a:ext cx="1783200" cy="109800"/>
          </a:xfrm>
          <a:prstGeom prst="rect">
            <a:avLst/>
          </a:prstGeom>
          <a:solidFill>
            <a:srgbClr val="3B78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6126480" y="1929384"/>
            <a:ext cx="1430100" cy="109800"/>
          </a:xfrm>
          <a:prstGeom prst="rect">
            <a:avLst/>
          </a:prstGeom>
          <a:solidFill>
            <a:srgbClr val="E250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8046720" y="1737360"/>
            <a:ext cx="658500" cy="329100"/>
          </a:xfrm>
          <a:prstGeom prst="roundRect">
            <a:avLst>
              <a:gd name="adj" fmla="val 16667"/>
            </a:avLst>
          </a:prstGeom>
          <a:solidFill>
            <a:srgbClr val="E250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−20%</a:t>
            </a:r>
            <a:endParaRPr sz="12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7772400" y="2048256"/>
            <a:ext cx="11886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p &lt; 0.001</a:t>
            </a:r>
            <a:endParaRPr sz="9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4206240" y="2295144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Visitor opted in</a:t>
            </a:r>
            <a:endParaRPr sz="1300" b="1">
              <a:solidFill>
                <a:srgbClr val="1416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4206240" y="2551176"/>
            <a:ext cx="19203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7085"/>
                </a:solidFill>
                <a:latin typeface="Roboto Mono"/>
                <a:ea typeface="Roboto Mono"/>
                <a:cs typeface="Roboto Mono"/>
                <a:sym typeface="Roboto Mono"/>
              </a:rPr>
              <a:t>47.1% → 47.3%</a:t>
            </a:r>
            <a:endParaRPr sz="1100">
              <a:solidFill>
                <a:srgbClr val="66708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6126480" y="2386584"/>
            <a:ext cx="1783200" cy="109800"/>
          </a:xfrm>
          <a:prstGeom prst="rect">
            <a:avLst/>
          </a:prstGeom>
          <a:solidFill>
            <a:srgbClr val="3B78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6126480" y="2542032"/>
            <a:ext cx="1783200" cy="109800"/>
          </a:xfrm>
          <a:prstGeom prst="rect">
            <a:avLst/>
          </a:prstGeom>
          <a:solidFill>
            <a:srgbClr val="B8B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8046720" y="2350008"/>
            <a:ext cx="658500" cy="329100"/>
          </a:xfrm>
          <a:prstGeom prst="roundRect">
            <a:avLst>
              <a:gd name="adj" fmla="val 16667"/>
            </a:avLst>
          </a:prstGeom>
          <a:solidFill>
            <a:srgbClr val="E6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0%</a:t>
            </a:r>
            <a:endParaRPr sz="1200" b="1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7772400" y="2660904"/>
            <a:ext cx="11886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not significant</a:t>
            </a:r>
            <a:endParaRPr sz="9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4206240" y="2907792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Agent closed sale</a:t>
            </a:r>
            <a:endParaRPr sz="1300" b="1">
              <a:solidFill>
                <a:srgbClr val="1416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4206240" y="3163824"/>
            <a:ext cx="19203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7085"/>
                </a:solidFill>
                <a:latin typeface="Roboto Mono"/>
                <a:ea typeface="Roboto Mono"/>
                <a:cs typeface="Roboto Mono"/>
                <a:sym typeface="Roboto Mono"/>
              </a:rPr>
              <a:t>17.5% → 15.8%</a:t>
            </a:r>
            <a:endParaRPr sz="1100">
              <a:solidFill>
                <a:srgbClr val="66708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6126480" y="2999232"/>
            <a:ext cx="1783200" cy="109800"/>
          </a:xfrm>
          <a:prstGeom prst="rect">
            <a:avLst/>
          </a:prstGeom>
          <a:solidFill>
            <a:srgbClr val="3B78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6126480" y="3154680"/>
            <a:ext cx="1603800" cy="109800"/>
          </a:xfrm>
          <a:prstGeom prst="rect">
            <a:avLst/>
          </a:prstGeom>
          <a:solidFill>
            <a:srgbClr val="B8B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8046720" y="2962656"/>
            <a:ext cx="658500" cy="329100"/>
          </a:xfrm>
          <a:prstGeom prst="roundRect">
            <a:avLst>
              <a:gd name="adj" fmla="val 16667"/>
            </a:avLst>
          </a:prstGeom>
          <a:solidFill>
            <a:srgbClr val="E6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−10%</a:t>
            </a:r>
            <a:endParaRPr sz="1200" b="1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7772400" y="3273552"/>
            <a:ext cx="11886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not significant</a:t>
            </a:r>
            <a:endParaRPr sz="9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4206240" y="3520440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Sold per prospect</a:t>
            </a:r>
            <a:endParaRPr sz="1300" b="1">
              <a:solidFill>
                <a:srgbClr val="1416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4206240" y="3776472"/>
            <a:ext cx="19203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7085"/>
                </a:solidFill>
                <a:latin typeface="Roboto Mono"/>
                <a:ea typeface="Roboto Mono"/>
                <a:cs typeface="Roboto Mono"/>
                <a:sym typeface="Roboto Mono"/>
              </a:rPr>
              <a:t>0.39% → 0.29%</a:t>
            </a:r>
            <a:endParaRPr sz="1100">
              <a:solidFill>
                <a:srgbClr val="66708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126480" y="3611880"/>
            <a:ext cx="1783200" cy="109800"/>
          </a:xfrm>
          <a:prstGeom prst="rect">
            <a:avLst/>
          </a:prstGeom>
          <a:solidFill>
            <a:srgbClr val="3B78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6126480" y="3767328"/>
            <a:ext cx="1336800" cy="109800"/>
          </a:xfrm>
          <a:prstGeom prst="rect">
            <a:avLst/>
          </a:prstGeom>
          <a:solidFill>
            <a:srgbClr val="E250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8046720" y="3575304"/>
            <a:ext cx="658500" cy="329100"/>
          </a:xfrm>
          <a:prstGeom prst="roundRect">
            <a:avLst>
              <a:gd name="adj" fmla="val 16667"/>
            </a:avLst>
          </a:prstGeom>
          <a:solidFill>
            <a:srgbClr val="E250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−25%</a:t>
            </a:r>
            <a:endParaRPr sz="12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772400" y="3886200"/>
            <a:ext cx="11886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p = 0.012</a:t>
            </a:r>
            <a:endParaRPr sz="9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57200" y="4224528"/>
            <a:ext cx="8229600" cy="777300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21792" y="4261104"/>
            <a:ext cx="5577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So what:</a:t>
            </a:r>
            <a:r>
              <a:rPr lang="en" sz="1200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 fewer emails meant fewer landing-page visits. After the visit, both groups behaved the same. It's a trade-off between revenue and inbox fatigue, and fatigue wasn't measured.</a:t>
            </a:r>
            <a:endParaRPr sz="1200">
              <a:solidFill>
                <a:srgbClr val="1416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263640" y="4288536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n = 45,158 vs 44,619</a:t>
            </a:r>
            <a:endParaRPr sz="9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Split per test design: odd/even email_id</a:t>
            </a:r>
            <a:endParaRPr sz="9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Results as of Jan 18, 2019</a:t>
            </a:r>
            <a:endParaRPr sz="9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457200" y="256032"/>
            <a:ext cx="5486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3B78DB"/>
                </a:solidFill>
                <a:latin typeface="Roboto"/>
                <a:ea typeface="Roboto"/>
                <a:cs typeface="Roboto"/>
                <a:sym typeface="Roboto"/>
              </a:rPr>
              <a:t>LIMITS OF THIS ANALYSIS</a:t>
            </a:r>
            <a:endParaRPr sz="1100" b="1">
              <a:solidFill>
                <a:srgbClr val="3B78D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57200" y="530352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416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What this test can't tell us</a:t>
            </a:r>
            <a:endParaRPr sz="3000">
              <a:solidFill>
                <a:srgbClr val="1416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457200" y="1298448"/>
            <a:ext cx="2596800" cy="1353300"/>
          </a:xfrm>
          <a:prstGeom prst="roundRect">
            <a:avLst>
              <a:gd name="adj" fmla="val 16667"/>
            </a:avLst>
          </a:prstGeom>
          <a:solidFill>
            <a:srgbClr val="FCE9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66928" y="1371600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E2506B"/>
                </a:solidFill>
                <a:latin typeface="Roboto"/>
                <a:ea typeface="Roboto"/>
                <a:cs typeface="Roboto"/>
                <a:sym typeface="Roboto"/>
              </a:rPr>
              <a:t>Did fatigue drop?</a:t>
            </a:r>
            <a:endParaRPr sz="1300" b="1">
              <a:solidFill>
                <a:srgbClr val="E250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66928" y="1682496"/>
            <a:ext cx="23775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No unsubscribe or spam-complaint data. The benefit side can't be measured.</a:t>
            </a:r>
            <a:endParaRPr sz="11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66928" y="2267712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3B78DB"/>
                </a:solidFill>
                <a:latin typeface="Roboto"/>
                <a:ea typeface="Roboto"/>
                <a:cs typeface="Roboto"/>
                <a:sym typeface="Roboto"/>
              </a:rPr>
              <a:t>→ Unsub and complaint rates</a:t>
            </a:r>
            <a:endParaRPr sz="1100" b="1">
              <a:solidFill>
                <a:srgbClr val="3B78D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3273552" y="1298448"/>
            <a:ext cx="2596800" cy="1353300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383280" y="1371600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Where people dropped off</a:t>
            </a:r>
            <a:endParaRPr sz="1300" b="1">
              <a:solidFill>
                <a:srgbClr val="1416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383280" y="1682496"/>
            <a:ext cx="23775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No sends or opens. We see landing-page visits, not who read each email.</a:t>
            </a:r>
            <a:endParaRPr sz="11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3383280" y="2267712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3B78DB"/>
                </a:solidFill>
                <a:latin typeface="Roboto"/>
                <a:ea typeface="Roboto"/>
                <a:cs typeface="Roboto"/>
                <a:sym typeface="Roboto"/>
              </a:rPr>
              <a:t>→ Email logs from the ESP</a:t>
            </a:r>
            <a:endParaRPr sz="1100" b="1">
              <a:solidFill>
                <a:srgbClr val="3B78D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089904" y="1298448"/>
            <a:ext cx="2596800" cy="1353300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199632" y="1371600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The final tally</a:t>
            </a:r>
            <a:endParaRPr sz="1300" b="1">
              <a:solidFill>
                <a:srgbClr val="1416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199632" y="1682496"/>
            <a:ext cx="23775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413 opportunities were still open when the data ends (Jan 18, 2019).</a:t>
            </a:r>
            <a:endParaRPr sz="11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199632" y="2267712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3B78DB"/>
                </a:solidFill>
                <a:latin typeface="Roboto"/>
                <a:ea typeface="Roboto"/>
                <a:cs typeface="Roboto"/>
                <a:sym typeface="Roboto"/>
              </a:rPr>
              <a:t>→ Re-run when pipeline closes</a:t>
            </a:r>
            <a:endParaRPr sz="1100" b="1">
              <a:solidFill>
                <a:srgbClr val="3B78D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457200" y="2816352"/>
            <a:ext cx="2596800" cy="1353300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66928" y="2889504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Which email drove it?</a:t>
            </a:r>
            <a:endParaRPr sz="1300" b="1">
              <a:solidFill>
                <a:srgbClr val="1416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566928" y="3200400"/>
            <a:ext cx="23775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UTM records only the most recent visit, so earlier emails get no credit.</a:t>
            </a:r>
            <a:endParaRPr sz="11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566928" y="3785616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3B78DB"/>
                </a:solidFill>
                <a:latin typeface="Roboto"/>
                <a:ea typeface="Roboto"/>
                <a:cs typeface="Roboto"/>
                <a:sym typeface="Roboto"/>
              </a:rPr>
              <a:t>→ Multi-touch click logs</a:t>
            </a:r>
            <a:endParaRPr sz="1100" b="1">
              <a:solidFill>
                <a:srgbClr val="3B78D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3273552" y="2816352"/>
            <a:ext cx="2596800" cy="1353300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3383280" y="2889504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Count or timing?</a:t>
            </a:r>
            <a:endParaRPr sz="1300" b="1">
              <a:solidFill>
                <a:srgbClr val="1416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3383280" y="3200400"/>
            <a:ext cx="23775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Test skipped emails 2, 3, 6 and 7. Fewer emails and new spacing are tangled.</a:t>
            </a:r>
            <a:endParaRPr sz="11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3383280" y="3785616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3B78DB"/>
                </a:solidFill>
                <a:latin typeface="Roboto"/>
                <a:ea typeface="Roboto"/>
                <a:cs typeface="Roboto"/>
                <a:sym typeface="Roboto"/>
              </a:rPr>
              <a:t>→ Test 6 emails or new timing</a:t>
            </a:r>
            <a:endParaRPr sz="1100" b="1">
              <a:solidFill>
                <a:srgbClr val="3B78D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6089904" y="2816352"/>
            <a:ext cx="2596800" cy="1353300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199632" y="2889504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Long-term effects</a:t>
            </a:r>
            <a:endParaRPr sz="1300" b="1">
              <a:solidFill>
                <a:srgbClr val="1416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6199632" y="3200400"/>
            <a:ext cx="23775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One month only. Renewals, retention and partner goodwill are unseen.</a:t>
            </a:r>
            <a:endParaRPr sz="110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6199632" y="3785616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3B78DB"/>
                </a:solidFill>
                <a:latin typeface="Roboto"/>
                <a:ea typeface="Roboto"/>
                <a:cs typeface="Roboto"/>
                <a:sym typeface="Roboto"/>
              </a:rPr>
              <a:t>→ Track through renewal</a:t>
            </a:r>
            <a:endParaRPr sz="1100" b="1">
              <a:solidFill>
                <a:srgbClr val="3B78D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457200" y="4279392"/>
            <a:ext cx="82296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Bottom line:</a:t>
            </a:r>
            <a:r>
              <a:rPr lang="en" sz="1300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 the data proves the cost of fewer emails. It can't prove the benefit, so the call is a business judgment until we measure fatigue.</a:t>
            </a:r>
            <a:endParaRPr sz="1300">
              <a:solidFill>
                <a:srgbClr val="1416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Office PowerPoint</Application>
  <PresentationFormat>On-screen Show (16:9)</PresentationFormat>
  <Paragraphs>50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Roboto</vt:lpstr>
      <vt:lpstr>Roboto Mono</vt:lpstr>
      <vt:lpstr>DM Serif Display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Ryan Osborne</cp:lastModifiedBy>
  <cp:revision>1</cp:revision>
  <dcterms:modified xsi:type="dcterms:W3CDTF">2026-10-18T16:34:28Z</dcterms:modified>
</cp:coreProperties>
</file>