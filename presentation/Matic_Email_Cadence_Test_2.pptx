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79" r:id="rId18"/>
    <p:sldId id="269" r:id="rId2"/>
    <p:sldId id="274" r:id="rId3"/>
    <p:sldId id="258" r:id="rId4"/>
    <p:sldId id="278" r:id="rId5"/>
    <p:sldId id="261" r:id="rId6"/>
  </p:sldIdLst>
  <p:sldSz cx="9144000" cy="5143500" type="screen16x9"/>
  <p:notesSz cx="6858000" cy="9144000"/>
  <p:embeddedFontLst>
    <p:embeddedFont>
      <p:font typeface="DM Serif Display" pitchFamily="2" charset="0"/>
      <p:regular r:id="rId8"/>
      <p:italic r:id="rId9"/>
    </p:embeddedFont>
    <p:embeddedFont>
      <p:font typeface="Roboto" panose="020000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32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notesMaster" Target="notesMasters/notes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2_slide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2_slid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s3_slide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s3_slid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Verification (recomputed from raw CSVs):</a:t>
            </a:r>
          </a:p>
          <a:p>
            <a:r>
              <a:t>- Sales by last email clicked, 8-email group: #1 20, #2 16, #3 15, #4 41, #5 9, #6 8, #7 5, #8 16 = 130.</a:t>
            </a:r>
          </a:p>
          <a:p>
            <a:r>
              <a:t>- 4-email group visitor sales: 98 (#1 31, #4 32, #5 20, #8 15).</a:t>
            </a:r>
          </a:p>
          <a:p>
            <a:r>
              <a:t>- Credited to cut emails 2, 3, 6, 7: 16 + 15 + 8 + 5 = 44.</a:t>
            </a:r>
          </a:p>
          <a:p>
            <a:r>
              <a:t>- Lost when cut: 130 - 98 = 32 raw; 30.8 with groups evened (98 x 45,158 / 44,619 = 99.2).</a:t>
            </a:r>
          </a:p>
          <a:p>
            <a:r>
              <a:t>- Would have bought anyway: 44 - 32 = 12 raw; about 13 adjusted.</a:t>
            </a:r>
          </a:p>
          <a:p>
            <a:r>
              <a:t>- Legend check: 4-email group only has visits tagged 01, 04, 05, 08.</a:t>
            </a:r>
          </a:p>
          <a:p>
            <a:r>
              <a:t>- Edge cases: 2 visits tagged 'undefined' (one per group), neither bought. No duplicate prospects.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2" name="cover_shape1"/>
          <p:cNvSpPr/>
          <p:nvPr/>
        </p:nvSpPr>
        <p:spPr>
          <a:xfrm>
            <a:off x="0" y="0"/>
            <a:ext cx="4572000" cy="63500"/>
          </a:xfrm>
          <a:prstGeom prst="rect">
            <a:avLst/>
          </a:prstGeom>
          <a:solidFill>
            <a:srgbClr val="3B78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3" name="cover_shape2"/>
          <p:cNvSpPr/>
          <p:nvPr/>
        </p:nvSpPr>
        <p:spPr>
          <a:xfrm>
            <a:off x="4572000" y="0"/>
            <a:ext cx="4572000" cy="63500"/>
          </a:xfrm>
          <a:prstGeom prst="rect">
            <a:avLst/>
          </a:prstGeom>
          <a:solidFill>
            <a:srgbClr val="E250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4" name="cover_shape3"/>
          <p:cNvSpPr txBox="1"/>
          <p:nvPr/>
        </p:nvSpPr>
        <p:spPr>
          <a:xfrm>
            <a:off x="731520" y="1417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B78DB"/>
                </a:solidFill>
                <a:latin typeface="Roboto"/>
              </a:rPr>
              <a:t>MATIC ANALYTICS CASE</a:t>
            </a:r>
          </a:p>
        </p:txBody>
      </p:sp>
      <p:sp>
        <p:nvSpPr>
          <p:cNvPr id="9005" name="cover_shape4"/>
          <p:cNvSpPr txBox="1"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0">
                <a:solidFill>
                  <a:srgbClr val="14161F"/>
                </a:solidFill>
                <a:latin typeface="DM Serif Display"/>
              </a:rPr>
              <a:t>Email cadence test</a:t>
            </a:r>
          </a:p>
        </p:txBody>
      </p:sp>
      <p:sp>
        <p:nvSpPr>
          <p:cNvPr id="9006" name="cover_shape5"/>
          <p:cNvSpPr txBox="1"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667085"/>
                </a:solidFill>
                <a:latin typeface="Roboto"/>
              </a:rPr>
              <a:t>What happened when we sent 4 emails instead of 8, and what to do next</a:t>
            </a:r>
          </a:p>
        </p:txBody>
      </p:sp>
      <p:sp>
        <p:nvSpPr>
          <p:cNvPr id="9007" name="cover_shape6"/>
          <p:cNvSpPr/>
          <p:nvPr/>
        </p:nvSpPr>
        <p:spPr>
          <a:xfrm>
            <a:off x="731520" y="3246120"/>
            <a:ext cx="548640" cy="36576"/>
          </a:xfrm>
          <a:prstGeom prst="rect">
            <a:avLst/>
          </a:prstGeom>
          <a:solidFill>
            <a:srgbClr val="E250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08" name="cover_shape7"/>
          <p:cNvSpPr txBox="1"/>
          <p:nvPr/>
        </p:nvSpPr>
        <p:spPr>
          <a:xfrm>
            <a:off x="731520" y="3474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61F"/>
                </a:solidFill>
                <a:latin typeface="Roboto"/>
              </a:rPr>
              <a:t>Ryan Osborne</a:t>
            </a:r>
          </a:p>
        </p:txBody>
      </p:sp>
      <p:sp>
        <p:nvSpPr>
          <p:cNvPr id="9009" name="cover_shape8"/>
          <p:cNvSpPr txBox="1"/>
          <p:nvPr/>
        </p:nvSpPr>
        <p:spPr>
          <a:xfrm>
            <a:off x="731520" y="37307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Roboto"/>
              </a:rPr>
              <a:t>Senior Data Analyst candidate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8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Strip blue"/>
          <p:cNvSpPr/>
          <p:nvPr/>
        </p:nvSpPr>
        <p:spPr>
          <a:xfrm>
            <a:off x="0" y="0"/>
            <a:ext cx="4572000" cy="63500"/>
          </a:xfrm>
          <a:prstGeom prst="rect">
            <a:avLst/>
          </a:prstGeom>
          <a:solidFill>
            <a:srgbClr val="3B78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2" name="Strip pink"/>
          <p:cNvSpPr/>
          <p:nvPr/>
        </p:nvSpPr>
        <p:spPr>
          <a:xfrm>
            <a:off x="4572000" y="0"/>
            <a:ext cx="4572000" cy="63500"/>
          </a:xfrm>
          <a:prstGeom prst="rect">
            <a:avLst/>
          </a:prstGeom>
          <a:solidFill>
            <a:srgbClr val="E250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s1_shape1"/>
          <p:cNvSpPr txBox="1"/>
          <p:nvPr/>
        </p:nvSpPr>
        <p:spPr>
          <a:xfrm>
            <a:off x="457200" y="256032"/>
            <a:ext cx="5486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3B78DB"/>
                </a:solidFill>
                <a:latin typeface="Roboto"/>
                <a:ea typeface="Roboto"/>
                <a:cs typeface="Roboto"/>
                <a:sym typeface="Roboto"/>
              </a:rPr>
              <a:t>EMAIL CADENCE TEST  ·  DECEMBER 2018</a:t>
            </a:r>
            <a:endParaRPr sz="1100" b="1" dirty="0">
              <a:solidFill>
                <a:srgbClr val="3B78D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s1_shape2"/>
          <p:cNvSpPr txBox="1"/>
          <p:nvPr/>
        </p:nvSpPr>
        <p:spPr>
          <a:xfrm>
            <a:off x="457200" y="530352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416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Half the emails, a quarter fewer sales</a:t>
            </a:r>
            <a:endParaRPr sz="3000">
              <a:solidFill>
                <a:srgbClr val="1416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004" name="s1_shape3"/>
          <p:cNvSpPr/>
          <p:nvPr/>
        </p:nvSpPr>
        <p:spPr>
          <a:xfrm>
            <a:off x="457200" y="4206240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s1_shape4"/>
          <p:cNvSpPr txBox="1"/>
          <p:nvPr/>
        </p:nvSpPr>
        <p:spPr>
          <a:xfrm>
            <a:off x="621792" y="4251959"/>
            <a:ext cx="6350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3B78DB"/>
                </a:solidFill>
                <a:latin typeface="Roboto"/>
              </a:rPr>
              <a:t>Recommendation:</a:t>
            </a:r>
            <a:r>
              <a:rPr sz="1200" b="0" dirty="0">
                <a:solidFill>
                  <a:srgbClr val="14161F"/>
                </a:solidFill>
                <a:latin typeface="Roboto"/>
              </a:rPr>
              <a:t> </a:t>
            </a:r>
            <a:r>
              <a:rPr lang="en-US" sz="1200" b="1" dirty="0">
                <a:solidFill>
                  <a:srgbClr val="14161F"/>
                </a:solidFill>
                <a:latin typeface="Roboto"/>
              </a:rPr>
              <a:t>Keep 8 emails for now.</a:t>
            </a:r>
            <a:r>
              <a:rPr sz="1200" b="0" dirty="0">
                <a:solidFill>
                  <a:srgbClr val="14161F"/>
                </a:solidFill>
                <a:latin typeface="Roboto"/>
              </a:rPr>
              <a:t> Next, test 6 to see where inbox fatigue starts.</a:t>
            </a:r>
            <a:endParaRPr sz="1200" dirty="0">
              <a:solidFill>
                <a:srgbClr val="1416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s1_shape5"/>
          <p:cNvSpPr txBox="1"/>
          <p:nvPr/>
        </p:nvSpPr>
        <p:spPr>
          <a:xfrm>
            <a:off x="7023100" y="4251959"/>
            <a:ext cx="1524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dirty="0">
                <a:solidFill>
                  <a:srgbClr val="667085"/>
                </a:solidFill>
                <a:latin typeface="Roboto"/>
                <a:ea typeface="Roboto"/>
                <a:cs typeface="Roboto"/>
                <a:sym typeface="Roboto"/>
              </a:rPr>
              <a:t>Groups split by odd/even email ID</a:t>
            </a:r>
            <a:endParaRPr sz="900" dirty="0">
              <a:solidFill>
                <a:srgbClr val="6670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Hero card"/>
          <p:cNvSpPr/>
          <p:nvPr/>
        </p:nvSpPr>
        <p:spPr>
          <a:xfrm>
            <a:off x="457200" y="1397000"/>
            <a:ext cx="3708400" cy="2540000"/>
          </a:xfrm>
          <a:prstGeom prst="roundRect">
            <a:avLst>
              <a:gd name="adj" fmla="val 5000"/>
            </a:avLst>
          </a:prstGeom>
          <a:solidFill>
            <a:srgbClr val="1A21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7" name="s1_shape6"/>
          <p:cNvSpPr txBox="1"/>
          <p:nvPr/>
        </p:nvSpPr>
        <p:spPr>
          <a:xfrm>
            <a:off x="685800" y="1600200"/>
            <a:ext cx="3276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AA6C4"/>
                </a:solidFill>
                <a:latin typeface="Roboto"/>
              </a:rPr>
              <a:t>CHANGE IN SALES RATE</a:t>
            </a:r>
          </a:p>
        </p:txBody>
      </p:sp>
      <p:sp>
        <p:nvSpPr>
          <p:cNvPr id="1008" name="s1_shape7"/>
          <p:cNvSpPr txBox="1"/>
          <p:nvPr/>
        </p:nvSpPr>
        <p:spPr>
          <a:xfrm>
            <a:off x="685800" y="1727200"/>
            <a:ext cx="3276600" cy="736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0">
                <a:solidFill>
                  <a:srgbClr val="FF6F8A"/>
                </a:solidFill>
                <a:latin typeface="DM Serif Display"/>
              </a:rPr>
              <a:t>−25%</a:t>
            </a:r>
          </a:p>
        </p:txBody>
      </p:sp>
      <p:sp>
        <p:nvSpPr>
          <p:cNvPr id="1009" name="s1_shape8"/>
          <p:cNvSpPr txBox="1"/>
          <p:nvPr/>
        </p:nvSpPr>
        <p:spPr>
          <a:xfrm>
            <a:off x="685800" y="2438400"/>
            <a:ext cx="32766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dirty="0">
                <a:solidFill>
                  <a:srgbClr val="FFFFFF"/>
                </a:solidFill>
                <a:latin typeface="Roboto"/>
              </a:rPr>
              <a:t>3.9 → 2.9 sales per 1,000</a:t>
            </a:r>
          </a:p>
        </p:txBody>
      </p:sp>
      <p:sp>
        <p:nvSpPr>
          <p:cNvPr id="1010" name="s1_shape9"/>
          <p:cNvSpPr txBox="1"/>
          <p:nvPr/>
        </p:nvSpPr>
        <p:spPr>
          <a:xfrm>
            <a:off x="685800" y="2730500"/>
            <a:ext cx="3276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B8C0D6"/>
                </a:solidFill>
                <a:latin typeface="Roboto"/>
              </a:rPr>
              <a:t>Sales counted through Jan 18, 2019.</a:t>
            </a:r>
          </a:p>
          <a:p>
            <a:pPr algn="l"/>
            <a:r>
              <a:rPr sz="1100" b="0" dirty="0">
                <a:solidFill>
                  <a:srgbClr val="B8C0D6"/>
                </a:solidFill>
                <a:latin typeface="Roboto"/>
              </a:rPr>
              <a:t>Counts buyers, not policies (211 / 150 policies).</a:t>
            </a:r>
          </a:p>
        </p:txBody>
      </p:sp>
      <p:cxnSp>
        <p:nvCxnSpPr>
          <p:cNvPr id="1093" name="Hero rule"/>
          <p:cNvCxnSpPr/>
          <p:nvPr/>
        </p:nvCxnSpPr>
        <p:spPr>
          <a:xfrm>
            <a:off x="685800" y="3223768"/>
            <a:ext cx="3276600" cy="0"/>
          </a:xfrm>
          <a:prstGeom prst="line">
            <a:avLst/>
          </a:prstGeom>
          <a:ln w="6350">
            <a:solidFill>
              <a:srgbClr val="343C5E"/>
            </a:solidFill>
          </a:ln>
        </p:spPr>
      </p:cxnSp>
      <p:sp>
        <p:nvSpPr>
          <p:cNvPr id="1011" name="s1_shape10"/>
          <p:cNvSpPr txBox="1"/>
          <p:nvPr/>
        </p:nvSpPr>
        <p:spPr>
          <a:xfrm>
            <a:off x="685800" y="3325368"/>
            <a:ext cx="3276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Roboto"/>
              </a:rPr>
              <a:t>About $58K less premium sold</a:t>
            </a:r>
          </a:p>
        </p:txBody>
      </p:sp>
      <p:sp>
        <p:nvSpPr>
          <p:cNvPr id="1012" name="s1_shape11"/>
          <p:cNvSpPr txBox="1"/>
          <p:nvPr/>
        </p:nvSpPr>
        <p:spPr>
          <a:xfrm>
            <a:off x="685800" y="3579368"/>
            <a:ext cx="32766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B8C0D6"/>
                </a:solidFill>
                <a:latin typeface="Roboto"/>
              </a:rPr>
              <a:t>First-year premium only, no renewals.</a:t>
            </a:r>
          </a:p>
        </p:txBody>
      </p:sp>
      <p:sp>
        <p:nvSpPr>
          <p:cNvPr id="1013" name="s1_shape12"/>
          <p:cNvSpPr/>
          <p:nvPr/>
        </p:nvSpPr>
        <p:spPr>
          <a:xfrm>
            <a:off x="4343400" y="1390904"/>
            <a:ext cx="4343400" cy="2542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s1_shape13"/>
          <p:cNvSpPr txBox="1"/>
          <p:nvPr/>
        </p:nvSpPr>
        <p:spPr>
          <a:xfrm>
            <a:off x="4572000" y="1592072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Roboto"/>
              </a:rPr>
              <a:t>RESULTS BY GROUP</a:t>
            </a:r>
          </a:p>
        </p:txBody>
      </p:sp>
      <p:sp>
        <p:nvSpPr>
          <p:cNvPr id="1015" name="s1_shape14"/>
          <p:cNvSpPr txBox="1"/>
          <p:nvPr/>
        </p:nvSpPr>
        <p:spPr>
          <a:xfrm>
            <a:off x="6126480" y="1592072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3B78DB"/>
                </a:solidFill>
                <a:latin typeface="Roboto"/>
              </a:rPr>
              <a:t>8 emails</a:t>
            </a:r>
          </a:p>
        </p:txBody>
      </p:sp>
      <p:sp>
        <p:nvSpPr>
          <p:cNvPr id="1016" name="s1_shape15"/>
          <p:cNvSpPr txBox="1"/>
          <p:nvPr/>
        </p:nvSpPr>
        <p:spPr>
          <a:xfrm>
            <a:off x="6858000" y="1592072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E2506B"/>
                </a:solidFill>
                <a:latin typeface="Roboto"/>
              </a:rPr>
              <a:t>4 emails</a:t>
            </a:r>
          </a:p>
        </p:txBody>
      </p:sp>
      <p:sp>
        <p:nvSpPr>
          <p:cNvPr id="1017" name="s1_shape16"/>
          <p:cNvSpPr txBox="1"/>
          <p:nvPr/>
        </p:nvSpPr>
        <p:spPr>
          <a:xfrm>
            <a:off x="7589520" y="1592072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667085"/>
                </a:solidFill>
                <a:latin typeface="Roboto"/>
              </a:rPr>
              <a:t>Change</a:t>
            </a:r>
          </a:p>
        </p:txBody>
      </p:sp>
      <p:cxnSp>
        <p:nvCxnSpPr>
          <p:cNvPr id="1018" name="s1_shape17"/>
          <p:cNvCxnSpPr/>
          <p:nvPr/>
        </p:nvCxnSpPr>
        <p:spPr>
          <a:xfrm>
            <a:off x="4572000" y="1866391"/>
            <a:ext cx="3886200" cy="0"/>
          </a:xfrm>
          <a:prstGeom prst="line">
            <a:avLst/>
          </a:prstGeom>
          <a:ln w="9525">
            <a:solidFill>
              <a:srgbClr val="D9DDE5"/>
            </a:solidFill>
          </a:ln>
        </p:spPr>
      </p:cxnSp>
      <p:sp>
        <p:nvSpPr>
          <p:cNvPr id="1019" name="s1_shape18"/>
          <p:cNvSpPr txBox="1"/>
          <p:nvPr/>
        </p:nvSpPr>
        <p:spPr>
          <a:xfrm>
            <a:off x="4572000" y="186537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4161F"/>
                </a:solidFill>
                <a:latin typeface="Roboto"/>
              </a:rPr>
              <a:t>Prospects emailed</a:t>
            </a:r>
          </a:p>
        </p:txBody>
      </p:sp>
      <p:sp>
        <p:nvSpPr>
          <p:cNvPr id="1020" name="s1_shape19"/>
          <p:cNvSpPr txBox="1"/>
          <p:nvPr/>
        </p:nvSpPr>
        <p:spPr>
          <a:xfrm>
            <a:off x="6126480" y="1865376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4161F"/>
                </a:solidFill>
                <a:latin typeface="Roboto"/>
              </a:rPr>
              <a:t>45,158</a:t>
            </a:r>
          </a:p>
        </p:txBody>
      </p:sp>
      <p:sp>
        <p:nvSpPr>
          <p:cNvPr id="1021" name="s1_shape20"/>
          <p:cNvSpPr txBox="1"/>
          <p:nvPr/>
        </p:nvSpPr>
        <p:spPr>
          <a:xfrm>
            <a:off x="6858000" y="1865376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4161F"/>
                </a:solidFill>
                <a:latin typeface="Roboto"/>
              </a:rPr>
              <a:t>44,619</a:t>
            </a:r>
          </a:p>
        </p:txBody>
      </p:sp>
      <p:cxnSp>
        <p:nvCxnSpPr>
          <p:cNvPr id="1022" name="s1_shape21"/>
          <p:cNvCxnSpPr/>
          <p:nvPr/>
        </p:nvCxnSpPr>
        <p:spPr>
          <a:xfrm>
            <a:off x="4572000" y="2167128"/>
            <a:ext cx="3886200" cy="0"/>
          </a:xfrm>
          <a:prstGeom prst="line">
            <a:avLst/>
          </a:prstGeom>
          <a:ln w="9525">
            <a:solidFill>
              <a:srgbClr val="D9DDE5"/>
            </a:solidFill>
          </a:ln>
        </p:spPr>
      </p:cxnSp>
      <p:sp>
        <p:nvSpPr>
          <p:cNvPr id="1023" name="s1_shape22"/>
          <p:cNvSpPr txBox="1"/>
          <p:nvPr/>
        </p:nvSpPr>
        <p:spPr>
          <a:xfrm>
            <a:off x="4572000" y="217627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4161F"/>
                </a:solidFill>
                <a:latin typeface="Roboto"/>
              </a:rPr>
              <a:t>Customers who bought</a:t>
            </a:r>
          </a:p>
        </p:txBody>
      </p:sp>
      <p:sp>
        <p:nvSpPr>
          <p:cNvPr id="1024" name="s1_shape23"/>
          <p:cNvSpPr txBox="1"/>
          <p:nvPr/>
        </p:nvSpPr>
        <p:spPr>
          <a:xfrm>
            <a:off x="6126480" y="2176272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4161F"/>
                </a:solidFill>
                <a:latin typeface="Roboto"/>
              </a:rPr>
              <a:t>177</a:t>
            </a:r>
          </a:p>
        </p:txBody>
      </p:sp>
      <p:sp>
        <p:nvSpPr>
          <p:cNvPr id="1025" name="s1_shape24"/>
          <p:cNvSpPr txBox="1"/>
          <p:nvPr/>
        </p:nvSpPr>
        <p:spPr>
          <a:xfrm>
            <a:off x="6858000" y="2176272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4161F"/>
                </a:solidFill>
                <a:latin typeface="Roboto"/>
              </a:rPr>
              <a:t>131</a:t>
            </a:r>
          </a:p>
        </p:txBody>
      </p:sp>
      <p:cxnSp>
        <p:nvCxnSpPr>
          <p:cNvPr id="1026" name="s1_shape25"/>
          <p:cNvCxnSpPr/>
          <p:nvPr/>
        </p:nvCxnSpPr>
        <p:spPr>
          <a:xfrm>
            <a:off x="4572000" y="2478024"/>
            <a:ext cx="3886200" cy="0"/>
          </a:xfrm>
          <a:prstGeom prst="line">
            <a:avLst/>
          </a:prstGeom>
          <a:ln w="9525">
            <a:solidFill>
              <a:srgbClr val="D9DDE5"/>
            </a:solidFill>
          </a:ln>
        </p:spPr>
      </p:cxnSp>
      <p:sp>
        <p:nvSpPr>
          <p:cNvPr id="1027" name="s1_shape26"/>
          <p:cNvSpPr txBox="1"/>
          <p:nvPr/>
        </p:nvSpPr>
        <p:spPr>
          <a:xfrm>
            <a:off x="4572000" y="248716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4161F"/>
                </a:solidFill>
                <a:latin typeface="Roboto"/>
              </a:rPr>
              <a:t>Sales per 1,000</a:t>
            </a:r>
          </a:p>
        </p:txBody>
      </p:sp>
      <p:sp>
        <p:nvSpPr>
          <p:cNvPr id="1028" name="s1_shape27"/>
          <p:cNvSpPr txBox="1"/>
          <p:nvPr/>
        </p:nvSpPr>
        <p:spPr>
          <a:xfrm>
            <a:off x="6126480" y="2487168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4161F"/>
                </a:solidFill>
                <a:latin typeface="Roboto"/>
              </a:rPr>
              <a:t>3.9</a:t>
            </a:r>
          </a:p>
        </p:txBody>
      </p:sp>
      <p:sp>
        <p:nvSpPr>
          <p:cNvPr id="1029" name="s1_shape28"/>
          <p:cNvSpPr txBox="1"/>
          <p:nvPr/>
        </p:nvSpPr>
        <p:spPr>
          <a:xfrm>
            <a:off x="6858000" y="2487168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4161F"/>
                </a:solidFill>
                <a:latin typeface="Roboto"/>
              </a:rPr>
              <a:t>2.9</a:t>
            </a:r>
          </a:p>
        </p:txBody>
      </p:sp>
      <p:sp>
        <p:nvSpPr>
          <p:cNvPr id="1030" name="s1_shape29"/>
          <p:cNvSpPr txBox="1"/>
          <p:nvPr/>
        </p:nvSpPr>
        <p:spPr>
          <a:xfrm>
            <a:off x="7589520" y="2487168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E2506B"/>
                </a:solidFill>
                <a:latin typeface="Roboto"/>
              </a:rPr>
              <a:t>−25%</a:t>
            </a:r>
          </a:p>
        </p:txBody>
      </p:sp>
      <p:cxnSp>
        <p:nvCxnSpPr>
          <p:cNvPr id="1031" name="s1_shape30"/>
          <p:cNvCxnSpPr/>
          <p:nvPr/>
        </p:nvCxnSpPr>
        <p:spPr>
          <a:xfrm>
            <a:off x="4572000" y="2788920"/>
            <a:ext cx="3886200" cy="0"/>
          </a:xfrm>
          <a:prstGeom prst="line">
            <a:avLst/>
          </a:prstGeom>
          <a:ln w="9525">
            <a:solidFill>
              <a:srgbClr val="D9DDE5"/>
            </a:solidFill>
          </a:ln>
        </p:spPr>
      </p:cxnSp>
      <p:sp>
        <p:nvSpPr>
          <p:cNvPr id="1032" name="s1_shape31"/>
          <p:cNvSpPr txBox="1"/>
          <p:nvPr/>
        </p:nvSpPr>
        <p:spPr>
          <a:xfrm>
            <a:off x="4572000" y="279806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4161F"/>
                </a:solidFill>
                <a:latin typeface="Roboto"/>
              </a:rPr>
              <a:t>Premium per prospect</a:t>
            </a:r>
          </a:p>
        </p:txBody>
      </p:sp>
      <p:sp>
        <p:nvSpPr>
          <p:cNvPr id="1033" name="s1_shape32"/>
          <p:cNvSpPr txBox="1"/>
          <p:nvPr/>
        </p:nvSpPr>
        <p:spPr>
          <a:xfrm>
            <a:off x="6126480" y="2798064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4161F"/>
                </a:solidFill>
                <a:latin typeface="Roboto"/>
              </a:rPr>
              <a:t>$5.28</a:t>
            </a:r>
          </a:p>
        </p:txBody>
      </p:sp>
      <p:sp>
        <p:nvSpPr>
          <p:cNvPr id="1034" name="s1_shape33"/>
          <p:cNvSpPr txBox="1"/>
          <p:nvPr/>
        </p:nvSpPr>
        <p:spPr>
          <a:xfrm>
            <a:off x="6858000" y="2798064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4161F"/>
                </a:solidFill>
                <a:latin typeface="Roboto"/>
              </a:rPr>
              <a:t>$3.99</a:t>
            </a:r>
          </a:p>
        </p:txBody>
      </p:sp>
      <p:sp>
        <p:nvSpPr>
          <p:cNvPr id="1035" name="s1_shape34"/>
          <p:cNvSpPr txBox="1"/>
          <p:nvPr/>
        </p:nvSpPr>
        <p:spPr>
          <a:xfrm>
            <a:off x="7589520" y="2798064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E2506B"/>
                </a:solidFill>
                <a:latin typeface="Roboto"/>
              </a:rPr>
              <a:t>−25%</a:t>
            </a:r>
          </a:p>
        </p:txBody>
      </p:sp>
      <p:cxnSp>
        <p:nvCxnSpPr>
          <p:cNvPr id="1036" name="s1_shape35"/>
          <p:cNvCxnSpPr/>
          <p:nvPr/>
        </p:nvCxnSpPr>
        <p:spPr>
          <a:xfrm>
            <a:off x="4572000" y="3099816"/>
            <a:ext cx="3886200" cy="0"/>
          </a:xfrm>
          <a:prstGeom prst="line">
            <a:avLst/>
          </a:prstGeom>
          <a:ln w="9525">
            <a:solidFill>
              <a:srgbClr val="D9DDE5"/>
            </a:solidFill>
          </a:ln>
        </p:spPr>
      </p:cxnSp>
      <p:sp>
        <p:nvSpPr>
          <p:cNvPr id="1037" name="s1_shape36"/>
          <p:cNvSpPr txBox="1"/>
          <p:nvPr/>
        </p:nvSpPr>
        <p:spPr>
          <a:xfrm>
            <a:off x="4572000" y="3493008"/>
            <a:ext cx="38862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14161F"/>
                </a:solidFill>
                <a:latin typeface="Roboto"/>
              </a:rPr>
              <a:t>Unlikely to be luck.</a:t>
            </a:r>
            <a:r>
              <a:rPr sz="1100" b="0" dirty="0">
                <a:solidFill>
                  <a:srgbClr val="14161F"/>
                </a:solidFill>
                <a:latin typeface="Roboto"/>
              </a:rPr>
              <a:t> If emails made no difference, a gap this big shows up 1 time in 85. Usual bar: 1 in 20.</a:t>
            </a:r>
          </a:p>
        </p:txBody>
      </p:sp>
      <p:sp>
        <p:nvSpPr>
          <p:cNvPr id="1094" name="comm_1094"/>
          <p:cNvSpPr txBox="1"/>
          <p:nvPr/>
        </p:nvSpPr>
        <p:spPr>
          <a:xfrm>
            <a:off x="4572000" y="31089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14161F"/>
                </a:solidFill>
                <a:latin typeface="Roboto"/>
              </a:rPr>
              <a:t>Lost commission</a:t>
            </a:r>
          </a:p>
        </p:txBody>
      </p:sp>
      <p:sp>
        <p:nvSpPr>
          <p:cNvPr id="1095" name="comm_1095"/>
          <p:cNvSpPr txBox="1"/>
          <p:nvPr/>
        </p:nvSpPr>
        <p:spPr>
          <a:xfrm>
            <a:off x="5577840" y="310896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Roboto"/>
              </a:rPr>
              <a:t>assumed 10–15% of $58K</a:t>
            </a:r>
          </a:p>
        </p:txBody>
      </p:sp>
      <p:sp>
        <p:nvSpPr>
          <p:cNvPr id="1096" name="comm_1096"/>
          <p:cNvSpPr txBox="1"/>
          <p:nvPr/>
        </p:nvSpPr>
        <p:spPr>
          <a:xfrm>
            <a:off x="7498079" y="3108960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E2506B"/>
                </a:solidFill>
                <a:latin typeface="Roboto"/>
              </a:rPr>
              <a:t>−$6–9K</a:t>
            </a:r>
          </a:p>
        </p:txBody>
      </p:sp>
      <p:cxnSp>
        <p:nvCxnSpPr>
          <p:cNvPr id="1097" name="comm_1097"/>
          <p:cNvCxnSpPr/>
          <p:nvPr/>
        </p:nvCxnSpPr>
        <p:spPr>
          <a:xfrm>
            <a:off x="4572000" y="3410712"/>
            <a:ext cx="3886200" cy="0"/>
          </a:xfrm>
          <a:prstGeom prst="line">
            <a:avLst/>
          </a:prstGeom>
          <a:ln w="9525">
            <a:solidFill>
              <a:srgbClr val="D9DDE5"/>
            </a:solidFill>
          </a:ln>
        </p:spPr>
      </p:cxnSp>
    </p:spTree>
    <p:extLst>
      <p:ext uri="{BB962C8B-B14F-4D97-AF65-F5344CB8AC3E}">
        <p14:creationId xmlns:p14="http://schemas.microsoft.com/office/powerpoint/2010/main" val="447244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s2_shape1"/>
          <p:cNvSpPr txBox="1"/>
          <p:nvPr/>
        </p:nvSpPr>
        <p:spPr>
          <a:xfrm>
            <a:off x="457200" y="256032"/>
            <a:ext cx="5486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3B78DB"/>
                </a:solidFill>
                <a:latin typeface="Roboto"/>
                <a:ea typeface="Roboto"/>
                <a:cs typeface="Roboto"/>
                <a:sym typeface="Roboto"/>
              </a:rPr>
              <a:t>THE FUNNEL  ·  BOTH GROUPS, DECEMBER 2018</a:t>
            </a:r>
            <a:endParaRPr sz="1100" b="1" dirty="0">
              <a:solidFill>
                <a:srgbClr val="3B78D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3" name="s2_shape2"/>
          <p:cNvSpPr txBox="1"/>
          <p:nvPr/>
        </p:nvSpPr>
        <p:spPr>
          <a:xfrm>
            <a:off x="457200" y="530352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1416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Fewer emails shrink the top of the funnel</a:t>
            </a:r>
            <a:endParaRPr sz="3000" dirty="0">
              <a:solidFill>
                <a:srgbClr val="1416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004" name="s2_shape3"/>
          <p:cNvSpPr/>
          <p:nvPr/>
        </p:nvSpPr>
        <p:spPr>
          <a:xfrm>
            <a:off x="457200" y="4315968"/>
            <a:ext cx="822960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5" name="s2_shape4"/>
          <p:cNvSpPr txBox="1"/>
          <p:nvPr/>
        </p:nvSpPr>
        <p:spPr>
          <a:xfrm>
            <a:off x="622300" y="4315968"/>
            <a:ext cx="6035040" cy="50292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sz="1200" b="1" dirty="0">
                <a:solidFill>
                  <a:srgbClr val="14161F"/>
                </a:solidFill>
                <a:latin typeface="Roboto"/>
              </a:rPr>
              <a:t>The 4-email group visited at a 20% lower rate.</a:t>
            </a:r>
            <a:r>
              <a:rPr sz="1200" b="0" dirty="0">
                <a:solidFill>
                  <a:srgbClr val="14161F"/>
                </a:solidFill>
                <a:latin typeface="Roboto"/>
              </a:rPr>
              <a:t> Later steps didn’t change significantly, so the loss carried through to sales.</a:t>
            </a:r>
          </a:p>
        </p:txBody>
      </p:sp>
      <p:sp>
        <p:nvSpPr>
          <p:cNvPr id="2006" name="s2_shape5"/>
          <p:cNvSpPr/>
          <p:nvPr/>
        </p:nvSpPr>
        <p:spPr>
          <a:xfrm>
            <a:off x="457200" y="1325880"/>
            <a:ext cx="8229600" cy="2852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07" name="s2_shape6"/>
          <p:cNvCxnSpPr/>
          <p:nvPr/>
        </p:nvCxnSpPr>
        <p:spPr>
          <a:xfrm>
            <a:off x="658368" y="2011680"/>
            <a:ext cx="0" cy="1828800"/>
          </a:xfrm>
          <a:prstGeom prst="line">
            <a:avLst/>
          </a:prstGeom>
          <a:ln w="15875">
            <a:solidFill>
              <a:srgbClr val="C9CED9"/>
            </a:solidFill>
          </a:ln>
        </p:spPr>
      </p:cxnSp>
      <p:sp>
        <p:nvSpPr>
          <p:cNvPr id="2008" name="s2_shape7"/>
          <p:cNvSpPr txBox="1"/>
          <p:nvPr/>
        </p:nvSpPr>
        <p:spPr>
          <a:xfrm>
            <a:off x="868680" y="1472184"/>
            <a:ext cx="1737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Roboto"/>
              </a:rPr>
              <a:t>STAGE</a:t>
            </a:r>
          </a:p>
        </p:txBody>
      </p:sp>
      <p:sp>
        <p:nvSpPr>
          <p:cNvPr id="2009" name="s2_shape8"/>
          <p:cNvSpPr txBox="1"/>
          <p:nvPr/>
        </p:nvSpPr>
        <p:spPr>
          <a:xfrm>
            <a:off x="2788920" y="1472184"/>
            <a:ext cx="8686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3B78DB"/>
                </a:solidFill>
                <a:latin typeface="Roboto"/>
              </a:rPr>
              <a:t>8 EMAILS</a:t>
            </a:r>
          </a:p>
        </p:txBody>
      </p:sp>
      <p:sp>
        <p:nvSpPr>
          <p:cNvPr id="2010" name="s2_shape9"/>
          <p:cNvSpPr txBox="1"/>
          <p:nvPr/>
        </p:nvSpPr>
        <p:spPr>
          <a:xfrm>
            <a:off x="3794760" y="1472184"/>
            <a:ext cx="8686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2506B"/>
                </a:solidFill>
                <a:latin typeface="Roboto"/>
              </a:rPr>
              <a:t>4 EMAILS</a:t>
            </a:r>
          </a:p>
        </p:txBody>
      </p:sp>
      <p:sp>
        <p:nvSpPr>
          <p:cNvPr id="2011" name="s2_shape10"/>
          <p:cNvSpPr txBox="1"/>
          <p:nvPr/>
        </p:nvSpPr>
        <p:spPr>
          <a:xfrm>
            <a:off x="4983480" y="1472184"/>
            <a:ext cx="2057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Roboto"/>
              </a:rPr>
              <a:t>STEP RATE  8 → 4</a:t>
            </a:r>
          </a:p>
        </p:txBody>
      </p:sp>
      <p:sp>
        <p:nvSpPr>
          <p:cNvPr id="2012" name="s2_shape11"/>
          <p:cNvSpPr txBox="1"/>
          <p:nvPr/>
        </p:nvSpPr>
        <p:spPr>
          <a:xfrm>
            <a:off x="7040880" y="1472184"/>
            <a:ext cx="14630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Roboto"/>
              </a:rPr>
              <a:t>VERDICT</a:t>
            </a:r>
          </a:p>
        </p:txBody>
      </p:sp>
      <p:sp>
        <p:nvSpPr>
          <p:cNvPr id="2013" name="s2_shape12"/>
          <p:cNvSpPr/>
          <p:nvPr/>
        </p:nvSpPr>
        <p:spPr>
          <a:xfrm>
            <a:off x="548640" y="1901952"/>
            <a:ext cx="219456" cy="219456"/>
          </a:xfrm>
          <a:prstGeom prst="ellipse">
            <a:avLst/>
          </a:prstGeom>
          <a:solidFill>
            <a:srgbClr val="1A214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2014" name="s2_shape13"/>
          <p:cNvSpPr txBox="1"/>
          <p:nvPr/>
        </p:nvSpPr>
        <p:spPr>
          <a:xfrm>
            <a:off x="868680" y="1819656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161F"/>
                </a:solidFill>
                <a:latin typeface="Roboto"/>
              </a:rPr>
              <a:t>Emailed</a:t>
            </a:r>
          </a:p>
          <a:p>
            <a:pPr algn="l"/>
            <a:r>
              <a:rPr sz="900" b="0">
                <a:solidFill>
                  <a:srgbClr val="667085"/>
                </a:solidFill>
                <a:latin typeface="Roboto"/>
              </a:rPr>
              <a:t>mortgage holders</a:t>
            </a:r>
          </a:p>
        </p:txBody>
      </p:sp>
      <p:sp>
        <p:nvSpPr>
          <p:cNvPr id="2015" name="s2_shape14"/>
          <p:cNvSpPr txBox="1"/>
          <p:nvPr/>
        </p:nvSpPr>
        <p:spPr>
          <a:xfrm>
            <a:off x="2788920" y="17830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3B78DB"/>
                </a:solidFill>
                <a:latin typeface="Roboto"/>
              </a:rPr>
              <a:t>45,158</a:t>
            </a:r>
          </a:p>
        </p:txBody>
      </p:sp>
      <p:sp>
        <p:nvSpPr>
          <p:cNvPr id="2016" name="s2_shape15"/>
          <p:cNvSpPr txBox="1"/>
          <p:nvPr/>
        </p:nvSpPr>
        <p:spPr>
          <a:xfrm>
            <a:off x="3794760" y="17830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E2506B"/>
                </a:solidFill>
                <a:latin typeface="Roboto"/>
              </a:rPr>
              <a:t>44,619</a:t>
            </a:r>
          </a:p>
        </p:txBody>
      </p:sp>
      <p:sp>
        <p:nvSpPr>
          <p:cNvPr id="2017" name="s2_shape16"/>
          <p:cNvSpPr/>
          <p:nvPr/>
        </p:nvSpPr>
        <p:spPr>
          <a:xfrm>
            <a:off x="566928" y="2258568"/>
            <a:ext cx="8010144" cy="420624"/>
          </a:xfrm>
          <a:prstGeom prst="roundRect">
            <a:avLst>
              <a:gd name="adj" fmla="val 15000"/>
            </a:avLst>
          </a:prstGeom>
          <a:solidFill>
            <a:srgbClr val="FB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8" name="s2_shape17"/>
          <p:cNvSpPr/>
          <p:nvPr/>
        </p:nvSpPr>
        <p:spPr>
          <a:xfrm>
            <a:off x="548640" y="2359152"/>
            <a:ext cx="219456" cy="219456"/>
          </a:xfrm>
          <a:prstGeom prst="ellipse">
            <a:avLst/>
          </a:prstGeom>
          <a:solidFill>
            <a:srgbClr val="3B78D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2019" name="s2_shape18"/>
          <p:cNvSpPr txBox="1"/>
          <p:nvPr/>
        </p:nvSpPr>
        <p:spPr>
          <a:xfrm>
            <a:off x="868680" y="2276856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161F"/>
                </a:solidFill>
                <a:latin typeface="Roboto"/>
              </a:rPr>
              <a:t>Visited</a:t>
            </a:r>
          </a:p>
          <a:p>
            <a:pPr algn="l"/>
            <a:r>
              <a:rPr sz="900" b="0">
                <a:solidFill>
                  <a:srgbClr val="667085"/>
                </a:solidFill>
                <a:latin typeface="Roboto"/>
              </a:rPr>
              <a:t>clicked from an email</a:t>
            </a:r>
          </a:p>
        </p:txBody>
      </p:sp>
      <p:sp>
        <p:nvSpPr>
          <p:cNvPr id="2020" name="s2_shape19"/>
          <p:cNvSpPr txBox="1"/>
          <p:nvPr/>
        </p:nvSpPr>
        <p:spPr>
          <a:xfrm>
            <a:off x="2788920" y="22402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3B78DB"/>
                </a:solidFill>
                <a:latin typeface="Roboto"/>
              </a:rPr>
              <a:t>1,800</a:t>
            </a:r>
          </a:p>
        </p:txBody>
      </p:sp>
      <p:sp>
        <p:nvSpPr>
          <p:cNvPr id="2021" name="s2_shape20"/>
          <p:cNvSpPr txBox="1"/>
          <p:nvPr/>
        </p:nvSpPr>
        <p:spPr>
          <a:xfrm>
            <a:off x="3794760" y="22402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E2506B"/>
                </a:solidFill>
                <a:latin typeface="Roboto"/>
              </a:rPr>
              <a:t>1,426</a:t>
            </a:r>
          </a:p>
        </p:txBody>
      </p:sp>
      <p:sp>
        <p:nvSpPr>
          <p:cNvPr id="2022" name="s2_shape21"/>
          <p:cNvSpPr txBox="1"/>
          <p:nvPr/>
        </p:nvSpPr>
        <p:spPr>
          <a:xfrm>
            <a:off x="4983480" y="2276856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61F"/>
                </a:solidFill>
                <a:latin typeface="Roboto"/>
              </a:rPr>
              <a:t>3.99% → 3.20%</a:t>
            </a:r>
          </a:p>
          <a:p>
            <a:pPr algn="l"/>
            <a:r>
              <a:rPr sz="900" b="0">
                <a:solidFill>
                  <a:srgbClr val="667085"/>
                </a:solidFill>
                <a:latin typeface="Roboto"/>
              </a:rPr>
              <a:t>of prospects</a:t>
            </a:r>
          </a:p>
        </p:txBody>
      </p:sp>
      <p:sp>
        <p:nvSpPr>
          <p:cNvPr id="2023" name="s2_shape22"/>
          <p:cNvSpPr/>
          <p:nvPr/>
        </p:nvSpPr>
        <p:spPr>
          <a:xfrm>
            <a:off x="7040880" y="23317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2506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Roboto"/>
              </a:rPr>
              <a:t>−20%  Real drop</a:t>
            </a:r>
          </a:p>
        </p:txBody>
      </p:sp>
      <p:sp>
        <p:nvSpPr>
          <p:cNvPr id="2024" name="s2_shape23"/>
          <p:cNvSpPr/>
          <p:nvPr/>
        </p:nvSpPr>
        <p:spPr>
          <a:xfrm>
            <a:off x="548640" y="2816352"/>
            <a:ext cx="219456" cy="219456"/>
          </a:xfrm>
          <a:prstGeom prst="ellipse">
            <a:avLst/>
          </a:prstGeom>
          <a:solidFill>
            <a:srgbClr val="3B78D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2025" name="s2_shape24"/>
          <p:cNvSpPr txBox="1"/>
          <p:nvPr/>
        </p:nvSpPr>
        <p:spPr>
          <a:xfrm>
            <a:off x="868680" y="2734056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161F"/>
                </a:solidFill>
                <a:latin typeface="Roboto"/>
              </a:rPr>
              <a:t>Opted in</a:t>
            </a:r>
          </a:p>
          <a:p>
            <a:pPr algn="l"/>
            <a:r>
              <a:rPr sz="900" b="0">
                <a:solidFill>
                  <a:srgbClr val="667085"/>
                </a:solidFill>
                <a:latin typeface="Roboto"/>
              </a:rPr>
              <a:t>OK’d an agent call</a:t>
            </a:r>
          </a:p>
        </p:txBody>
      </p:sp>
      <p:sp>
        <p:nvSpPr>
          <p:cNvPr id="2026" name="s2_shape25"/>
          <p:cNvSpPr txBox="1"/>
          <p:nvPr/>
        </p:nvSpPr>
        <p:spPr>
          <a:xfrm>
            <a:off x="2788920" y="26974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3B78DB"/>
                </a:solidFill>
                <a:latin typeface="Roboto"/>
              </a:rPr>
              <a:t>844</a:t>
            </a:r>
          </a:p>
        </p:txBody>
      </p:sp>
      <p:sp>
        <p:nvSpPr>
          <p:cNvPr id="2027" name="s2_shape26"/>
          <p:cNvSpPr txBox="1"/>
          <p:nvPr/>
        </p:nvSpPr>
        <p:spPr>
          <a:xfrm>
            <a:off x="3794760" y="26974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E2506B"/>
                </a:solidFill>
                <a:latin typeface="Roboto"/>
              </a:rPr>
              <a:t>673</a:t>
            </a:r>
          </a:p>
        </p:txBody>
      </p:sp>
      <p:sp>
        <p:nvSpPr>
          <p:cNvPr id="2028" name="s2_shape27"/>
          <p:cNvSpPr txBox="1"/>
          <p:nvPr/>
        </p:nvSpPr>
        <p:spPr>
          <a:xfrm>
            <a:off x="4983480" y="2734056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61F"/>
                </a:solidFill>
                <a:latin typeface="Roboto"/>
              </a:rPr>
              <a:t>46.9% → 47.2%</a:t>
            </a:r>
          </a:p>
          <a:p>
            <a:pPr algn="l"/>
            <a:r>
              <a:rPr sz="900" b="0">
                <a:solidFill>
                  <a:srgbClr val="667085"/>
                </a:solidFill>
                <a:latin typeface="Roboto"/>
              </a:rPr>
              <a:t>of visitors</a:t>
            </a:r>
          </a:p>
        </p:txBody>
      </p:sp>
      <p:sp>
        <p:nvSpPr>
          <p:cNvPr id="2029" name="s2_shape28"/>
          <p:cNvSpPr/>
          <p:nvPr/>
        </p:nvSpPr>
        <p:spPr>
          <a:xfrm>
            <a:off x="7040880" y="27889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CEEF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667085"/>
                </a:solidFill>
                <a:latin typeface="Roboto"/>
              </a:rPr>
              <a:t>No change</a:t>
            </a:r>
          </a:p>
        </p:txBody>
      </p:sp>
      <p:cxnSp>
        <p:nvCxnSpPr>
          <p:cNvPr id="2030" name="s2_shape29"/>
          <p:cNvCxnSpPr/>
          <p:nvPr/>
        </p:nvCxnSpPr>
        <p:spPr>
          <a:xfrm>
            <a:off x="868680" y="3154680"/>
            <a:ext cx="7589520" cy="0"/>
          </a:xfrm>
          <a:prstGeom prst="line">
            <a:avLst/>
          </a:prstGeom>
          <a:ln w="9525">
            <a:solidFill>
              <a:srgbClr val="E3E6EC"/>
            </a:solidFill>
          </a:ln>
        </p:spPr>
      </p:cxnSp>
      <p:sp>
        <p:nvSpPr>
          <p:cNvPr id="2031" name="s2_shape30"/>
          <p:cNvSpPr/>
          <p:nvPr/>
        </p:nvSpPr>
        <p:spPr>
          <a:xfrm>
            <a:off x="548640" y="3273552"/>
            <a:ext cx="219456" cy="219456"/>
          </a:xfrm>
          <a:prstGeom prst="ellipse">
            <a:avLst/>
          </a:prstGeom>
          <a:solidFill>
            <a:srgbClr val="3B78D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2032" name="s2_shape31"/>
          <p:cNvSpPr txBox="1"/>
          <p:nvPr/>
        </p:nvSpPr>
        <p:spPr>
          <a:xfrm>
            <a:off x="868680" y="3191256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161F"/>
                </a:solidFill>
                <a:latin typeface="Roboto"/>
              </a:rPr>
              <a:t>Opportunities</a:t>
            </a:r>
          </a:p>
          <a:p>
            <a:pPr algn="l"/>
            <a:r>
              <a:rPr sz="900" b="0">
                <a:solidFill>
                  <a:srgbClr val="667085"/>
                </a:solidFill>
                <a:latin typeface="Roboto"/>
              </a:rPr>
              <a:t>opt-ins + phone leads</a:t>
            </a:r>
          </a:p>
        </p:txBody>
      </p:sp>
      <p:sp>
        <p:nvSpPr>
          <p:cNvPr id="2033" name="s2_shape32"/>
          <p:cNvSpPr txBox="1"/>
          <p:nvPr/>
        </p:nvSpPr>
        <p:spPr>
          <a:xfrm>
            <a:off x="2788920" y="3154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3B78DB"/>
                </a:solidFill>
                <a:latin typeface="Roboto"/>
              </a:rPr>
              <a:t>1,010</a:t>
            </a:r>
          </a:p>
        </p:txBody>
      </p:sp>
      <p:sp>
        <p:nvSpPr>
          <p:cNvPr id="2034" name="s2_shape33"/>
          <p:cNvSpPr txBox="1"/>
          <p:nvPr/>
        </p:nvSpPr>
        <p:spPr>
          <a:xfrm>
            <a:off x="3794760" y="3154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E2506B"/>
                </a:solidFill>
                <a:latin typeface="Roboto"/>
              </a:rPr>
              <a:t>831</a:t>
            </a:r>
          </a:p>
        </p:txBody>
      </p:sp>
      <p:sp>
        <p:nvSpPr>
          <p:cNvPr id="2035" name="s2_shape34"/>
          <p:cNvSpPr txBox="1"/>
          <p:nvPr/>
        </p:nvSpPr>
        <p:spPr>
          <a:xfrm>
            <a:off x="4983480" y="3191256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61F"/>
                </a:solidFill>
                <a:latin typeface="Roboto"/>
              </a:rPr>
              <a:t>+166 / +158 phone leads</a:t>
            </a:r>
          </a:p>
          <a:p>
            <a:pPr algn="l"/>
            <a:r>
              <a:rPr sz="900" b="0">
                <a:solidFill>
                  <a:srgbClr val="667085"/>
                </a:solidFill>
                <a:latin typeface="Roboto"/>
              </a:rPr>
              <a:t>by phone or transfer, no email click</a:t>
            </a:r>
          </a:p>
        </p:txBody>
      </p:sp>
      <p:cxnSp>
        <p:nvCxnSpPr>
          <p:cNvPr id="2036" name="s2_shape35"/>
          <p:cNvCxnSpPr/>
          <p:nvPr/>
        </p:nvCxnSpPr>
        <p:spPr>
          <a:xfrm>
            <a:off x="868680" y="3611880"/>
            <a:ext cx="7589520" cy="0"/>
          </a:xfrm>
          <a:prstGeom prst="line">
            <a:avLst/>
          </a:prstGeom>
          <a:ln w="9525">
            <a:solidFill>
              <a:srgbClr val="E3E6EC"/>
            </a:solidFill>
          </a:ln>
        </p:spPr>
      </p:cxnSp>
      <p:sp>
        <p:nvSpPr>
          <p:cNvPr id="2037" name="s2_shape36"/>
          <p:cNvSpPr/>
          <p:nvPr/>
        </p:nvSpPr>
        <p:spPr>
          <a:xfrm>
            <a:off x="548640" y="3730752"/>
            <a:ext cx="219456" cy="219456"/>
          </a:xfrm>
          <a:prstGeom prst="ellipse">
            <a:avLst/>
          </a:prstGeom>
          <a:solidFill>
            <a:srgbClr val="3B78D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2038" name="s2_shape37"/>
          <p:cNvSpPr txBox="1"/>
          <p:nvPr/>
        </p:nvSpPr>
        <p:spPr>
          <a:xfrm>
            <a:off x="868680" y="3648456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161F"/>
                </a:solidFill>
                <a:latin typeface="Roboto"/>
              </a:rPr>
              <a:t>Sold</a:t>
            </a:r>
          </a:p>
          <a:p>
            <a:pPr algn="l"/>
            <a:r>
              <a:rPr sz="900" b="0">
                <a:solidFill>
                  <a:srgbClr val="667085"/>
                </a:solidFill>
                <a:latin typeface="Roboto"/>
              </a:rPr>
              <a:t>bought a policy</a:t>
            </a:r>
          </a:p>
        </p:txBody>
      </p:sp>
      <p:sp>
        <p:nvSpPr>
          <p:cNvPr id="2039" name="s2_shape38"/>
          <p:cNvSpPr txBox="1"/>
          <p:nvPr/>
        </p:nvSpPr>
        <p:spPr>
          <a:xfrm>
            <a:off x="2788920" y="36118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3B78DB"/>
                </a:solidFill>
                <a:latin typeface="Roboto"/>
              </a:rPr>
              <a:t>177</a:t>
            </a:r>
          </a:p>
        </p:txBody>
      </p:sp>
      <p:sp>
        <p:nvSpPr>
          <p:cNvPr id="2040" name="s2_shape39"/>
          <p:cNvSpPr txBox="1"/>
          <p:nvPr/>
        </p:nvSpPr>
        <p:spPr>
          <a:xfrm>
            <a:off x="3794760" y="36118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E2506B"/>
                </a:solidFill>
                <a:latin typeface="Roboto"/>
              </a:rPr>
              <a:t>131</a:t>
            </a:r>
          </a:p>
        </p:txBody>
      </p:sp>
      <p:sp>
        <p:nvSpPr>
          <p:cNvPr id="2041" name="s2_shape40"/>
          <p:cNvSpPr txBox="1"/>
          <p:nvPr/>
        </p:nvSpPr>
        <p:spPr>
          <a:xfrm>
            <a:off x="4983480" y="3648456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61F"/>
                </a:solidFill>
                <a:latin typeface="Roboto"/>
              </a:rPr>
              <a:t>17.5% → 15.8%</a:t>
            </a:r>
          </a:p>
          <a:p>
            <a:pPr algn="l"/>
            <a:r>
              <a:rPr sz="900" b="0">
                <a:solidFill>
                  <a:srgbClr val="667085"/>
                </a:solidFill>
                <a:latin typeface="Roboto"/>
              </a:rPr>
              <a:t>of opportunities</a:t>
            </a:r>
          </a:p>
        </p:txBody>
      </p:sp>
      <p:sp>
        <p:nvSpPr>
          <p:cNvPr id="2042" name="s2_shape41"/>
          <p:cNvSpPr/>
          <p:nvPr/>
        </p:nvSpPr>
        <p:spPr>
          <a:xfrm>
            <a:off x="7040880" y="37033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CEEF2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667085"/>
                </a:solidFill>
                <a:latin typeface="Roboto"/>
              </a:rPr>
              <a:t>−10%  May be chance</a:t>
            </a:r>
          </a:p>
        </p:txBody>
      </p:sp>
      <p:sp>
        <p:nvSpPr>
          <p:cNvPr id="2043" name="s2_shape42"/>
          <p:cNvSpPr/>
          <p:nvPr/>
        </p:nvSpPr>
        <p:spPr>
          <a:xfrm>
            <a:off x="6903720" y="4425696"/>
            <a:ext cx="1645920" cy="283464"/>
          </a:xfrm>
          <a:prstGeom prst="roundRect">
            <a:avLst>
              <a:gd name="adj" fmla="val 50000"/>
            </a:avLst>
          </a:prstGeom>
          <a:solidFill>
            <a:srgbClr val="FBE3E8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E2506B"/>
                </a:solidFill>
                <a:latin typeface="Roboto"/>
              </a:rPr>
              <a:t>≈ $58K</a:t>
            </a:r>
            <a:r>
              <a:rPr sz="950" b="0">
                <a:solidFill>
                  <a:srgbClr val="E2506B"/>
                </a:solidFill>
                <a:latin typeface="Roboto"/>
              </a:rPr>
              <a:t> less premium</a:t>
            </a:r>
          </a:p>
        </p:txBody>
      </p:sp>
    </p:spTree>
    <p:extLst>
      <p:ext uri="{BB962C8B-B14F-4D97-AF65-F5344CB8AC3E}">
        <p14:creationId xmlns:p14="http://schemas.microsoft.com/office/powerpoint/2010/main" val="1687966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8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2" name="s3_shape1"/>
          <p:cNvSpPr/>
          <p:nvPr/>
        </p:nvSpPr>
        <p:spPr>
          <a:xfrm>
            <a:off x="457200" y="4443984"/>
            <a:ext cx="8229600" cy="438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03" name="s3_shape2"/>
          <p:cNvSpPr txBox="1"/>
          <p:nvPr/>
        </p:nvSpPr>
        <p:spPr>
          <a:xfrm>
            <a:off x="457200" y="256032"/>
            <a:ext cx="5486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3B78DB"/>
                </a:solidFill>
                <a:latin typeface="Roboto"/>
                <a:ea typeface="Roboto"/>
                <a:cs typeface="Roboto"/>
                <a:sym typeface="Roboto"/>
              </a:rPr>
              <a:t>METHODOLOGY  ·  DATA</a:t>
            </a:r>
            <a:endParaRPr sz="1100" b="1">
              <a:solidFill>
                <a:srgbClr val="3B78D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4" name="s3_shape3"/>
          <p:cNvSpPr txBox="1"/>
          <p:nvPr/>
        </p:nvSpPr>
        <p:spPr>
          <a:xfrm>
            <a:off x="457200" y="530352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0">
                <a:solidFill>
                  <a:srgbClr val="1416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test was fair, and the drop holds up</a:t>
            </a:r>
            <a:endParaRPr sz="3000">
              <a:solidFill>
                <a:srgbClr val="1416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005" name="s3_shape4"/>
          <p:cNvSpPr txBox="1"/>
          <p:nvPr/>
        </p:nvSpPr>
        <p:spPr>
          <a:xfrm>
            <a:off x="621792" y="4443984"/>
            <a:ext cx="79095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4161F"/>
                </a:solidFill>
                <a:latin typeface="Roboto"/>
                <a:ea typeface="Roboto"/>
                <a:cs typeface="Roboto"/>
                <a:sym typeface="Roboto"/>
              </a:rPr>
              <a:t>Every cut points the same way.</a:t>
            </a:r>
            <a:r>
              <a:rPr lang="en" sz="1200" b="0">
                <a:solidFill>
                  <a:srgbClr val="14161F"/>
                </a:solidFill>
                <a:latin typeface="Roboto"/>
                <a:ea typeface="Roboto"/>
                <a:cs typeface="Roboto"/>
                <a:sym typeface="Roboto"/>
              </a:rPr>
              <a:t> Two cuts confirm the drop; the other two lean the same way.</a:t>
            </a:r>
            <a:endParaRPr sz="1300">
              <a:solidFill>
                <a:srgbClr val="1416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6" name="s3_shape5"/>
          <p:cNvSpPr/>
          <p:nvPr/>
        </p:nvSpPr>
        <p:spPr>
          <a:xfrm>
            <a:off x="457200" y="1298448"/>
            <a:ext cx="379476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7" name="s3_shape6"/>
          <p:cNvSpPr txBox="1"/>
          <p:nvPr/>
        </p:nvSpPr>
        <p:spPr>
          <a:xfrm>
            <a:off x="685800" y="1463039"/>
            <a:ext cx="3337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67085"/>
                </a:solidFill>
                <a:latin typeface="Roboto"/>
              </a:rPr>
              <a:t>IS THE COMPARISON FAIR?</a:t>
            </a:r>
          </a:p>
        </p:txBody>
      </p:sp>
      <p:sp>
        <p:nvSpPr>
          <p:cNvPr id="4008" name="s3_shape7"/>
          <p:cNvSpPr/>
          <p:nvPr/>
        </p:nvSpPr>
        <p:spPr>
          <a:xfrm>
            <a:off x="685800" y="1773936"/>
            <a:ext cx="237744" cy="237744"/>
          </a:xfrm>
          <a:prstGeom prst="ellipse">
            <a:avLst/>
          </a:prstGeom>
          <a:solidFill>
            <a:srgbClr val="2E9E6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✓</a:t>
            </a:r>
          </a:p>
        </p:txBody>
      </p:sp>
      <p:sp>
        <p:nvSpPr>
          <p:cNvPr id="4009" name="s3_shape8"/>
          <p:cNvSpPr txBox="1"/>
          <p:nvPr/>
        </p:nvSpPr>
        <p:spPr>
          <a:xfrm>
            <a:off x="1051560" y="1755648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161F"/>
                </a:solidFill>
                <a:latin typeface="Roboto"/>
              </a:rPr>
              <a:t>Split like a coin flip</a:t>
            </a:r>
          </a:p>
        </p:txBody>
      </p:sp>
      <p:sp>
        <p:nvSpPr>
          <p:cNvPr id="4010" name="s3_shape9"/>
          <p:cNvSpPr txBox="1"/>
          <p:nvPr/>
        </p:nvSpPr>
        <p:spPr>
          <a:xfrm>
            <a:off x="1051560" y="1993391"/>
            <a:ext cx="2971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Roboto"/>
              </a:rPr>
              <a:t>Odd vs. even email ID. 50.3 / 49.7 is a normal split.</a:t>
            </a:r>
          </a:p>
        </p:txBody>
      </p:sp>
      <p:sp>
        <p:nvSpPr>
          <p:cNvPr id="4011" name="s3_shape10"/>
          <p:cNvSpPr/>
          <p:nvPr/>
        </p:nvSpPr>
        <p:spPr>
          <a:xfrm>
            <a:off x="1051560" y="2231136"/>
            <a:ext cx="1476527" cy="219456"/>
          </a:xfrm>
          <a:prstGeom prst="rect">
            <a:avLst/>
          </a:prstGeom>
          <a:solidFill>
            <a:srgbClr val="3B78D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Roboto"/>
              </a:rPr>
              <a:t>8 emails  45,158</a:t>
            </a:r>
          </a:p>
        </p:txBody>
      </p:sp>
      <p:sp>
        <p:nvSpPr>
          <p:cNvPr id="4012" name="s3_shape11"/>
          <p:cNvSpPr/>
          <p:nvPr/>
        </p:nvSpPr>
        <p:spPr>
          <a:xfrm>
            <a:off x="2546375" y="2231136"/>
            <a:ext cx="1476984" cy="219456"/>
          </a:xfrm>
          <a:prstGeom prst="rect">
            <a:avLst/>
          </a:prstGeom>
          <a:solidFill>
            <a:srgbClr val="E2506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Roboto"/>
              </a:rPr>
              <a:t>4 emails  44,619</a:t>
            </a:r>
          </a:p>
        </p:txBody>
      </p:sp>
      <p:sp>
        <p:nvSpPr>
          <p:cNvPr id="4013" name="s3_shape12"/>
          <p:cNvSpPr/>
          <p:nvPr/>
        </p:nvSpPr>
        <p:spPr>
          <a:xfrm>
            <a:off x="685800" y="2670048"/>
            <a:ext cx="237744" cy="237744"/>
          </a:xfrm>
          <a:prstGeom prst="ellipse">
            <a:avLst/>
          </a:prstGeom>
          <a:solidFill>
            <a:srgbClr val="2E9E6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✓</a:t>
            </a:r>
          </a:p>
        </p:txBody>
      </p:sp>
      <p:sp>
        <p:nvSpPr>
          <p:cNvPr id="4014" name="s3_shape13"/>
          <p:cNvSpPr txBox="1"/>
          <p:nvPr/>
        </p:nvSpPr>
        <p:spPr>
          <a:xfrm>
            <a:off x="1051560" y="2651760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161F"/>
                </a:solidFill>
                <a:latin typeface="Roboto"/>
              </a:rPr>
              <a:t>Same kind of homeowners</a:t>
            </a:r>
          </a:p>
        </p:txBody>
      </p:sp>
      <p:sp>
        <p:nvSpPr>
          <p:cNvPr id="4015" name="s3_shape14"/>
          <p:cNvSpPr txBox="1"/>
          <p:nvPr/>
        </p:nvSpPr>
        <p:spPr>
          <a:xfrm>
            <a:off x="2377439" y="2916936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3B78DB"/>
                </a:solidFill>
                <a:latin typeface="Roboto"/>
              </a:rPr>
              <a:t>8 emails</a:t>
            </a:r>
          </a:p>
        </p:txBody>
      </p:sp>
      <p:sp>
        <p:nvSpPr>
          <p:cNvPr id="4016" name="s3_shape15"/>
          <p:cNvSpPr txBox="1"/>
          <p:nvPr/>
        </p:nvSpPr>
        <p:spPr>
          <a:xfrm>
            <a:off x="3200400" y="2916936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E2506B"/>
                </a:solidFill>
                <a:latin typeface="Roboto"/>
              </a:rPr>
              <a:t>4 emails</a:t>
            </a:r>
          </a:p>
        </p:txBody>
      </p:sp>
      <p:sp>
        <p:nvSpPr>
          <p:cNvPr id="4017" name="s3_shape16"/>
          <p:cNvSpPr txBox="1"/>
          <p:nvPr/>
        </p:nvSpPr>
        <p:spPr>
          <a:xfrm>
            <a:off x="1051560" y="3099815"/>
            <a:ext cx="1371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Roboto"/>
              </a:rPr>
              <a:t>Avg. FICO</a:t>
            </a:r>
          </a:p>
        </p:txBody>
      </p:sp>
      <p:sp>
        <p:nvSpPr>
          <p:cNvPr id="4018" name="s3_shape17"/>
          <p:cNvSpPr txBox="1"/>
          <p:nvPr/>
        </p:nvSpPr>
        <p:spPr>
          <a:xfrm>
            <a:off x="2377439" y="3099815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14161F"/>
                </a:solidFill>
                <a:latin typeface="Roboto"/>
              </a:rPr>
              <a:t>731</a:t>
            </a:r>
          </a:p>
        </p:txBody>
      </p:sp>
      <p:sp>
        <p:nvSpPr>
          <p:cNvPr id="4019" name="s3_shape18"/>
          <p:cNvSpPr txBox="1"/>
          <p:nvPr/>
        </p:nvSpPr>
        <p:spPr>
          <a:xfrm>
            <a:off x="3200400" y="3099815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14161F"/>
                </a:solidFill>
                <a:latin typeface="Roboto"/>
              </a:rPr>
              <a:t>731</a:t>
            </a:r>
          </a:p>
        </p:txBody>
      </p:sp>
      <p:sp>
        <p:nvSpPr>
          <p:cNvPr id="4020" name="s3_shape19"/>
          <p:cNvSpPr txBox="1"/>
          <p:nvPr/>
        </p:nvSpPr>
        <p:spPr>
          <a:xfrm>
            <a:off x="1051560" y="3282696"/>
            <a:ext cx="1371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Roboto"/>
              </a:rPr>
              <a:t>Avg. loan</a:t>
            </a:r>
          </a:p>
        </p:txBody>
      </p:sp>
      <p:sp>
        <p:nvSpPr>
          <p:cNvPr id="4021" name="s3_shape20"/>
          <p:cNvSpPr txBox="1"/>
          <p:nvPr/>
        </p:nvSpPr>
        <p:spPr>
          <a:xfrm>
            <a:off x="2377439" y="3282696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14161F"/>
                </a:solidFill>
                <a:latin typeface="Roboto"/>
              </a:rPr>
              <a:t>$192.6K</a:t>
            </a:r>
          </a:p>
        </p:txBody>
      </p:sp>
      <p:sp>
        <p:nvSpPr>
          <p:cNvPr id="4022" name="s3_shape21"/>
          <p:cNvSpPr txBox="1"/>
          <p:nvPr/>
        </p:nvSpPr>
        <p:spPr>
          <a:xfrm>
            <a:off x="3200400" y="3282696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14161F"/>
                </a:solidFill>
                <a:latin typeface="Roboto"/>
              </a:rPr>
              <a:t>$193.6K</a:t>
            </a:r>
          </a:p>
        </p:txBody>
      </p:sp>
      <p:sp>
        <p:nvSpPr>
          <p:cNvPr id="4023" name="s3_shape22"/>
          <p:cNvSpPr txBox="1"/>
          <p:nvPr/>
        </p:nvSpPr>
        <p:spPr>
          <a:xfrm>
            <a:off x="1051560" y="3465575"/>
            <a:ext cx="1371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Roboto"/>
              </a:rPr>
              <a:t>Avg. current premium</a:t>
            </a:r>
          </a:p>
        </p:txBody>
      </p:sp>
      <p:sp>
        <p:nvSpPr>
          <p:cNvPr id="4024" name="s3_shape23"/>
          <p:cNvSpPr txBox="1"/>
          <p:nvPr/>
        </p:nvSpPr>
        <p:spPr>
          <a:xfrm>
            <a:off x="2377439" y="3465575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14161F"/>
                </a:solidFill>
                <a:latin typeface="Roboto"/>
              </a:rPr>
              <a:t>$1,183</a:t>
            </a:r>
          </a:p>
        </p:txBody>
      </p:sp>
      <p:sp>
        <p:nvSpPr>
          <p:cNvPr id="4025" name="s3_shape24"/>
          <p:cNvSpPr txBox="1"/>
          <p:nvPr/>
        </p:nvSpPr>
        <p:spPr>
          <a:xfrm>
            <a:off x="3200400" y="3465575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14161F"/>
                </a:solidFill>
                <a:latin typeface="Roboto"/>
              </a:rPr>
              <a:t>$1,180</a:t>
            </a:r>
          </a:p>
        </p:txBody>
      </p:sp>
      <p:sp>
        <p:nvSpPr>
          <p:cNvPr id="4026" name="s3_shape25"/>
          <p:cNvSpPr/>
          <p:nvPr/>
        </p:nvSpPr>
        <p:spPr>
          <a:xfrm>
            <a:off x="685800" y="3694176"/>
            <a:ext cx="237744" cy="237744"/>
          </a:xfrm>
          <a:prstGeom prst="ellipse">
            <a:avLst/>
          </a:prstGeom>
          <a:solidFill>
            <a:srgbClr val="2E9E6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✓</a:t>
            </a:r>
          </a:p>
        </p:txBody>
      </p:sp>
      <p:sp>
        <p:nvSpPr>
          <p:cNvPr id="4027" name="s3_shape26"/>
          <p:cNvSpPr txBox="1"/>
          <p:nvPr/>
        </p:nvSpPr>
        <p:spPr>
          <a:xfrm>
            <a:off x="1051560" y="3675888"/>
            <a:ext cx="2971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161F"/>
                </a:solidFill>
                <a:latin typeface="Roboto"/>
              </a:rPr>
              <a:t>Nothing missing</a:t>
            </a:r>
          </a:p>
        </p:txBody>
      </p:sp>
      <p:sp>
        <p:nvSpPr>
          <p:cNvPr id="4028" name="s3_shape27"/>
          <p:cNvSpPr txBox="1"/>
          <p:nvPr/>
        </p:nvSpPr>
        <p:spPr>
          <a:xfrm>
            <a:off x="1051560" y="391363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Roboto"/>
              </a:rPr>
              <a:t>99% of test opt-ins found; no duplicates. Other CRM records were mostly January leads.</a:t>
            </a:r>
          </a:p>
        </p:txBody>
      </p:sp>
      <p:sp>
        <p:nvSpPr>
          <p:cNvPr id="4029" name="s3_shape28"/>
          <p:cNvSpPr/>
          <p:nvPr/>
        </p:nvSpPr>
        <p:spPr>
          <a:xfrm>
            <a:off x="4434840" y="1298448"/>
            <a:ext cx="425196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0" name="s3_shape29"/>
          <p:cNvSpPr txBox="1"/>
          <p:nvPr/>
        </p:nvSpPr>
        <p:spPr>
          <a:xfrm>
            <a:off x="4663440" y="1463039"/>
            <a:ext cx="3794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67085"/>
                </a:solidFill>
                <a:latin typeface="Roboto"/>
              </a:rPr>
              <a:t>DOES THE DROP HOLD?</a:t>
            </a:r>
          </a:p>
        </p:txBody>
      </p:sp>
      <p:sp>
        <p:nvSpPr>
          <p:cNvPr id="4031" name="s3_shape30"/>
          <p:cNvSpPr txBox="1"/>
          <p:nvPr/>
        </p:nvSpPr>
        <p:spPr>
          <a:xfrm>
            <a:off x="4663440" y="1664207"/>
            <a:ext cx="3794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Roboto"/>
              </a:rPr>
              <a:t>Same −25% headline, re-cut four ways (sales per prospect)</a:t>
            </a:r>
          </a:p>
        </p:txBody>
      </p:sp>
      <p:sp>
        <p:nvSpPr>
          <p:cNvPr id="4032" name="s3_shape31"/>
          <p:cNvSpPr txBox="1"/>
          <p:nvPr/>
        </p:nvSpPr>
        <p:spPr>
          <a:xfrm>
            <a:off x="4663440" y="2075688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4161F"/>
                </a:solidFill>
                <a:latin typeface="Roboto"/>
              </a:rPr>
              <a:t>Home policies only</a:t>
            </a:r>
          </a:p>
        </p:txBody>
      </p:sp>
      <p:sp>
        <p:nvSpPr>
          <p:cNvPr id="4033" name="s3_shape32"/>
          <p:cNvSpPr/>
          <p:nvPr/>
        </p:nvSpPr>
        <p:spPr>
          <a:xfrm>
            <a:off x="6126479" y="2130552"/>
            <a:ext cx="777240" cy="164592"/>
          </a:xfrm>
          <a:prstGeom prst="rect">
            <a:avLst/>
          </a:prstGeom>
          <a:solidFill>
            <a:srgbClr val="EEF0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4" name="s3_shape33"/>
          <p:cNvSpPr/>
          <p:nvPr/>
        </p:nvSpPr>
        <p:spPr>
          <a:xfrm>
            <a:off x="6126479" y="2130552"/>
            <a:ext cx="555171" cy="164592"/>
          </a:xfrm>
          <a:prstGeom prst="rect">
            <a:avLst/>
          </a:prstGeom>
          <a:solidFill>
            <a:srgbClr val="E250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5" name="s3_shape34"/>
          <p:cNvSpPr txBox="1"/>
          <p:nvPr/>
        </p:nvSpPr>
        <p:spPr>
          <a:xfrm>
            <a:off x="6967727" y="2075688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2506B"/>
                </a:solidFill>
                <a:latin typeface="Roboto"/>
              </a:rPr>
              <a:t>−25%</a:t>
            </a:r>
          </a:p>
        </p:txBody>
      </p:sp>
      <p:sp>
        <p:nvSpPr>
          <p:cNvPr id="4036" name="s3_shape35"/>
          <p:cNvSpPr/>
          <p:nvPr/>
        </p:nvSpPr>
        <p:spPr>
          <a:xfrm>
            <a:off x="7589519" y="2093976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E3F4EC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50" b="1">
                <a:solidFill>
                  <a:srgbClr val="2E9E6B"/>
                </a:solidFill>
                <a:latin typeface="Roboto"/>
              </a:rPr>
              <a:t>✓ Confirmed</a:t>
            </a:r>
          </a:p>
        </p:txBody>
      </p:sp>
      <p:cxnSp>
        <p:nvCxnSpPr>
          <p:cNvPr id="4037" name="s3_shape36"/>
          <p:cNvCxnSpPr/>
          <p:nvPr/>
        </p:nvCxnSpPr>
        <p:spPr>
          <a:xfrm>
            <a:off x="4663440" y="2441448"/>
            <a:ext cx="3794760" cy="0"/>
          </a:xfrm>
          <a:prstGeom prst="line">
            <a:avLst/>
          </a:prstGeom>
          <a:ln w="9525">
            <a:solidFill>
              <a:srgbClr val="E3E6EC"/>
            </a:solidFill>
          </a:ln>
        </p:spPr>
      </p:cxnSp>
      <p:sp>
        <p:nvSpPr>
          <p:cNvPr id="4038" name="s3_shape37"/>
          <p:cNvSpPr txBox="1"/>
          <p:nvPr/>
        </p:nvSpPr>
        <p:spPr>
          <a:xfrm>
            <a:off x="4663440" y="2532888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4161F"/>
                </a:solidFill>
                <a:latin typeface="Roboto"/>
              </a:rPr>
              <a:t>If open deals close evenly</a:t>
            </a:r>
          </a:p>
        </p:txBody>
      </p:sp>
      <p:sp>
        <p:nvSpPr>
          <p:cNvPr id="4039" name="s3_shape38"/>
          <p:cNvSpPr/>
          <p:nvPr/>
        </p:nvSpPr>
        <p:spPr>
          <a:xfrm>
            <a:off x="6126479" y="2587752"/>
            <a:ext cx="777240" cy="164592"/>
          </a:xfrm>
          <a:prstGeom prst="rect">
            <a:avLst/>
          </a:prstGeom>
          <a:solidFill>
            <a:srgbClr val="EEF0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0" name="s3_shape39"/>
          <p:cNvSpPr/>
          <p:nvPr/>
        </p:nvSpPr>
        <p:spPr>
          <a:xfrm>
            <a:off x="6126479" y="2587752"/>
            <a:ext cx="555171" cy="164592"/>
          </a:xfrm>
          <a:prstGeom prst="rect">
            <a:avLst/>
          </a:prstGeom>
          <a:solidFill>
            <a:srgbClr val="E250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1" name="s3_shape40"/>
          <p:cNvSpPr txBox="1"/>
          <p:nvPr/>
        </p:nvSpPr>
        <p:spPr>
          <a:xfrm>
            <a:off x="6967727" y="2532888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2506B"/>
                </a:solidFill>
                <a:latin typeface="Roboto"/>
              </a:rPr>
              <a:t>−25%</a:t>
            </a:r>
          </a:p>
        </p:txBody>
      </p:sp>
      <p:sp>
        <p:nvSpPr>
          <p:cNvPr id="4042" name="s3_shape41"/>
          <p:cNvSpPr/>
          <p:nvPr/>
        </p:nvSpPr>
        <p:spPr>
          <a:xfrm>
            <a:off x="7589519" y="2551176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E3F4EC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50" b="1">
                <a:solidFill>
                  <a:srgbClr val="2E9E6B"/>
                </a:solidFill>
                <a:latin typeface="Roboto"/>
              </a:rPr>
              <a:t>✓ Confirmed</a:t>
            </a:r>
          </a:p>
        </p:txBody>
      </p:sp>
      <p:cxnSp>
        <p:nvCxnSpPr>
          <p:cNvPr id="4043" name="s3_shape42"/>
          <p:cNvCxnSpPr/>
          <p:nvPr/>
        </p:nvCxnSpPr>
        <p:spPr>
          <a:xfrm>
            <a:off x="4663440" y="2898648"/>
            <a:ext cx="3794760" cy="0"/>
          </a:xfrm>
          <a:prstGeom prst="line">
            <a:avLst/>
          </a:prstGeom>
          <a:ln w="9525">
            <a:solidFill>
              <a:srgbClr val="E3E6EC"/>
            </a:solidFill>
          </a:ln>
        </p:spPr>
      </p:cxnSp>
      <p:sp>
        <p:nvSpPr>
          <p:cNvPr id="4044" name="s3_shape43"/>
          <p:cNvSpPr txBox="1"/>
          <p:nvPr/>
        </p:nvSpPr>
        <p:spPr>
          <a:xfrm>
            <a:off x="4663440" y="2990088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4161F"/>
                </a:solidFill>
                <a:latin typeface="Roboto"/>
              </a:rPr>
              <a:t>Email-channel sales</a:t>
            </a:r>
          </a:p>
        </p:txBody>
      </p:sp>
      <p:sp>
        <p:nvSpPr>
          <p:cNvPr id="4045" name="s3_shape44"/>
          <p:cNvSpPr/>
          <p:nvPr/>
        </p:nvSpPr>
        <p:spPr>
          <a:xfrm>
            <a:off x="6126479" y="3044952"/>
            <a:ext cx="777240" cy="164592"/>
          </a:xfrm>
          <a:prstGeom prst="rect">
            <a:avLst/>
          </a:prstGeom>
          <a:solidFill>
            <a:srgbClr val="EEF0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6" name="s3_shape45"/>
          <p:cNvSpPr/>
          <p:nvPr/>
        </p:nvSpPr>
        <p:spPr>
          <a:xfrm>
            <a:off x="6126479" y="3044952"/>
            <a:ext cx="488550" cy="164592"/>
          </a:xfrm>
          <a:prstGeom prst="rect">
            <a:avLst/>
          </a:prstGeom>
          <a:solidFill>
            <a:srgbClr val="F4B4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7" name="s3_shape46"/>
          <p:cNvSpPr txBox="1"/>
          <p:nvPr/>
        </p:nvSpPr>
        <p:spPr>
          <a:xfrm>
            <a:off x="6967727" y="2990088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Roboto"/>
              </a:rPr>
              <a:t>−22%</a:t>
            </a:r>
          </a:p>
        </p:txBody>
      </p:sp>
      <p:sp>
        <p:nvSpPr>
          <p:cNvPr id="4048" name="s3_shape47"/>
          <p:cNvSpPr/>
          <p:nvPr/>
        </p:nvSpPr>
        <p:spPr>
          <a:xfrm>
            <a:off x="7589519" y="3008376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50" b="1">
                <a:solidFill>
                  <a:srgbClr val="667085"/>
                </a:solidFill>
                <a:latin typeface="Roboto"/>
              </a:rPr>
              <a:t>Not yet proven</a:t>
            </a:r>
          </a:p>
        </p:txBody>
      </p:sp>
      <p:cxnSp>
        <p:nvCxnSpPr>
          <p:cNvPr id="4049" name="s3_shape48"/>
          <p:cNvCxnSpPr/>
          <p:nvPr/>
        </p:nvCxnSpPr>
        <p:spPr>
          <a:xfrm>
            <a:off x="4663440" y="3355848"/>
            <a:ext cx="3794760" cy="0"/>
          </a:xfrm>
          <a:prstGeom prst="line">
            <a:avLst/>
          </a:prstGeom>
          <a:ln w="9525">
            <a:solidFill>
              <a:srgbClr val="E3E6EC"/>
            </a:solidFill>
          </a:ln>
        </p:spPr>
      </p:cxnSp>
      <p:sp>
        <p:nvSpPr>
          <p:cNvPr id="4050" name="s3_shape49"/>
          <p:cNvSpPr txBox="1"/>
          <p:nvPr/>
        </p:nvSpPr>
        <p:spPr>
          <a:xfrm>
            <a:off x="4663440" y="3447288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4161F"/>
                </a:solidFill>
                <a:latin typeface="Roboto"/>
              </a:rPr>
              <a:t>Phone &amp; other sales</a:t>
            </a:r>
          </a:p>
        </p:txBody>
      </p:sp>
      <p:sp>
        <p:nvSpPr>
          <p:cNvPr id="4051" name="s3_shape50"/>
          <p:cNvSpPr/>
          <p:nvPr/>
        </p:nvSpPr>
        <p:spPr>
          <a:xfrm>
            <a:off x="6126479" y="3502152"/>
            <a:ext cx="777240" cy="164592"/>
          </a:xfrm>
          <a:prstGeom prst="rect">
            <a:avLst/>
          </a:prstGeom>
          <a:solidFill>
            <a:srgbClr val="EEF0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2" name="s3_shape51"/>
          <p:cNvSpPr/>
          <p:nvPr/>
        </p:nvSpPr>
        <p:spPr>
          <a:xfrm>
            <a:off x="6126479" y="3502152"/>
            <a:ext cx="688412" cy="164592"/>
          </a:xfrm>
          <a:prstGeom prst="rect">
            <a:avLst/>
          </a:prstGeom>
          <a:solidFill>
            <a:srgbClr val="F4B4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3" name="s3_shape52"/>
          <p:cNvSpPr txBox="1"/>
          <p:nvPr/>
        </p:nvSpPr>
        <p:spPr>
          <a:xfrm>
            <a:off x="6967727" y="3447288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Roboto"/>
              </a:rPr>
              <a:t>−31%</a:t>
            </a:r>
          </a:p>
        </p:txBody>
      </p:sp>
      <p:sp>
        <p:nvSpPr>
          <p:cNvPr id="4054" name="s3_shape53"/>
          <p:cNvSpPr/>
          <p:nvPr/>
        </p:nvSpPr>
        <p:spPr>
          <a:xfrm>
            <a:off x="7589519" y="3465576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850" b="1">
                <a:solidFill>
                  <a:srgbClr val="667085"/>
                </a:solidFill>
                <a:latin typeface="Roboto"/>
              </a:rPr>
              <a:t>Not yet proven</a:t>
            </a:r>
          </a:p>
        </p:txBody>
      </p:sp>
      <p:sp>
        <p:nvSpPr>
          <p:cNvPr id="4055" name="s3_shape54"/>
          <p:cNvSpPr txBox="1"/>
          <p:nvPr/>
        </p:nvSpPr>
        <p:spPr>
          <a:xfrm>
            <a:off x="4663440" y="4041648"/>
            <a:ext cx="3794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67085"/>
                </a:solidFill>
                <a:latin typeface="Roboto"/>
              </a:rPr>
              <a:t>Confirmed = chance alone gives a gap this big under 1 time in 20.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8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2" name="s5_shape1"/>
          <p:cNvSpPr txBox="1"/>
          <p:nvPr/>
        </p:nvSpPr>
        <p:spPr>
          <a:xfrm>
            <a:off x="457200" y="256032"/>
            <a:ext cx="5486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3B78DB"/>
                </a:solidFill>
                <a:latin typeface="Roboto"/>
                <a:ea typeface="Roboto"/>
                <a:cs typeface="Roboto"/>
                <a:sym typeface="Roboto"/>
              </a:rPr>
              <a:t>FOLLOW-UPS</a:t>
            </a:r>
            <a:endParaRPr sz="1100" b="1">
              <a:solidFill>
                <a:srgbClr val="3B78D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3" name="s5_shape2"/>
          <p:cNvSpPr txBox="1"/>
          <p:nvPr/>
        </p:nvSpPr>
        <p:spPr>
          <a:xfrm>
            <a:off x="457200" y="530352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 b="0">
                <a:solidFill>
                  <a:srgbClr val="1416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What I’d look at next</a:t>
            </a:r>
            <a:endParaRPr sz="3000" dirty="0">
              <a:solidFill>
                <a:srgbClr val="1416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004" name="s5_shape3"/>
          <p:cNvSpPr txBox="1"/>
          <p:nvPr/>
        </p:nvSpPr>
        <p:spPr>
          <a:xfrm>
            <a:off x="658368" y="1109472"/>
            <a:ext cx="3429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1" dirty="0">
                <a:solidFill>
                  <a:srgbClr val="E2506B"/>
                </a:solidFill>
                <a:latin typeface="Roboto"/>
              </a:rPr>
              <a:t>Open question</a:t>
            </a:r>
            <a:endParaRPr sz="1000" b="1" dirty="0">
              <a:solidFill>
                <a:srgbClr val="E2506B"/>
              </a:solidFill>
              <a:latin typeface="Roboto"/>
            </a:endParaRPr>
          </a:p>
        </p:txBody>
      </p:sp>
      <p:sp>
        <p:nvSpPr>
          <p:cNvPr id="5005" name="s5_shape4"/>
          <p:cNvSpPr txBox="1"/>
          <p:nvPr/>
        </p:nvSpPr>
        <p:spPr>
          <a:xfrm>
            <a:off x="4800600" y="1109472"/>
            <a:ext cx="3749039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1" dirty="0">
                <a:solidFill>
                  <a:srgbClr val="3B78DB"/>
                </a:solidFill>
                <a:latin typeface="Roboto"/>
              </a:rPr>
              <a:t>How I’d answer it</a:t>
            </a:r>
            <a:endParaRPr sz="1000" b="1" dirty="0">
              <a:solidFill>
                <a:srgbClr val="3B78DB"/>
              </a:solidFill>
              <a:latin typeface="Roboto"/>
            </a:endParaRPr>
          </a:p>
        </p:txBody>
      </p:sp>
      <p:sp>
        <p:nvSpPr>
          <p:cNvPr id="5006" name="s5_shape5"/>
          <p:cNvSpPr/>
          <p:nvPr/>
        </p:nvSpPr>
        <p:spPr>
          <a:xfrm>
            <a:off x="457200" y="1371092"/>
            <a:ext cx="8229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07" name="s5_shape6"/>
          <p:cNvSpPr/>
          <p:nvPr/>
        </p:nvSpPr>
        <p:spPr>
          <a:xfrm>
            <a:off x="457200" y="1462532"/>
            <a:ext cx="54864" cy="384048"/>
          </a:xfrm>
          <a:prstGeom prst="rect">
            <a:avLst/>
          </a:prstGeom>
          <a:solidFill>
            <a:srgbClr val="E2506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08" name="s5_shape7"/>
          <p:cNvSpPr/>
          <p:nvPr/>
        </p:nvSpPr>
        <p:spPr>
          <a:xfrm>
            <a:off x="7662672" y="1444244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3B78D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Roboto"/>
              </a:rPr>
              <a:t>PRIORITY</a:t>
            </a:r>
          </a:p>
        </p:txBody>
      </p:sp>
      <p:sp>
        <p:nvSpPr>
          <p:cNvPr id="5009" name="s5_shape8"/>
          <p:cNvSpPr txBox="1"/>
          <p:nvPr/>
        </p:nvSpPr>
        <p:spPr>
          <a:xfrm>
            <a:off x="658368" y="1462532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4161F"/>
                </a:solidFill>
                <a:latin typeface="Roboto"/>
              </a:rPr>
              <a:t>Did fewer emails reduce fatigue?</a:t>
            </a:r>
          </a:p>
        </p:txBody>
      </p:sp>
      <p:sp>
        <p:nvSpPr>
          <p:cNvPr id="5010" name="s5_shape9"/>
          <p:cNvSpPr txBox="1"/>
          <p:nvPr/>
        </p:nvSpPr>
        <p:spPr>
          <a:xfrm>
            <a:off x="658368" y="1691132"/>
            <a:ext cx="3429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Roboto"/>
              </a:rPr>
              <a:t>No unsubscribe or complaint data</a:t>
            </a:r>
          </a:p>
        </p:txBody>
      </p:sp>
      <p:sp>
        <p:nvSpPr>
          <p:cNvPr id="5011" name="s5_shape10"/>
          <p:cNvSpPr/>
          <p:nvPr/>
        </p:nvSpPr>
        <p:spPr>
          <a:xfrm>
            <a:off x="4224528" y="1544827"/>
            <a:ext cx="219456" cy="237744"/>
          </a:xfrm>
          <a:prstGeom prst="chevron">
            <a:avLst/>
          </a:prstGeom>
          <a:solidFill>
            <a:srgbClr val="E2506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12" name="s5_shape11"/>
          <p:cNvSpPr txBox="1"/>
          <p:nvPr/>
        </p:nvSpPr>
        <p:spPr>
          <a:xfrm>
            <a:off x="4800600" y="1462532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B78DB"/>
                </a:solidFill>
                <a:latin typeface="Roboto"/>
              </a:rPr>
              <a:t>6-email test: drop emails 6 and 7</a:t>
            </a:r>
          </a:p>
        </p:txBody>
      </p:sp>
      <p:sp>
        <p:nvSpPr>
          <p:cNvPr id="5013" name="s5_shape12"/>
          <p:cNvSpPr txBox="1"/>
          <p:nvPr/>
        </p:nvSpPr>
        <p:spPr>
          <a:xfrm>
            <a:off x="4800600" y="1691132"/>
            <a:ext cx="3749039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>
                <a:solidFill>
                  <a:srgbClr val="667085"/>
                </a:solidFill>
                <a:latin typeface="Roboto"/>
              </a:rPr>
              <a:t>Track unsubscribes and complaints</a:t>
            </a:r>
          </a:p>
        </p:txBody>
      </p:sp>
      <p:sp>
        <p:nvSpPr>
          <p:cNvPr id="5200" name="Row band 1"/>
          <p:cNvSpPr/>
          <p:nvPr/>
        </p:nvSpPr>
        <p:spPr>
          <a:xfrm>
            <a:off x="457200" y="2020824"/>
            <a:ext cx="8229600" cy="596646"/>
          </a:xfrm>
          <a:prstGeom prst="rect">
            <a:avLst/>
          </a:prstGeom>
          <a:solidFill>
            <a:srgbClr val="E8EDF7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01" name="Row band 2"/>
          <p:cNvSpPr/>
          <p:nvPr/>
        </p:nvSpPr>
        <p:spPr>
          <a:xfrm>
            <a:off x="457200" y="2617470"/>
            <a:ext cx="8229600" cy="596646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02" name="Row band 3"/>
          <p:cNvSpPr/>
          <p:nvPr/>
        </p:nvSpPr>
        <p:spPr>
          <a:xfrm>
            <a:off x="457200" y="3214116"/>
            <a:ext cx="8229600" cy="596646"/>
          </a:xfrm>
          <a:prstGeom prst="rect">
            <a:avLst/>
          </a:prstGeom>
          <a:solidFill>
            <a:srgbClr val="E8EDF7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03" name="Row band 4"/>
          <p:cNvSpPr/>
          <p:nvPr/>
        </p:nvSpPr>
        <p:spPr>
          <a:xfrm>
            <a:off x="457200" y="3810762"/>
            <a:ext cx="8229600" cy="596646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6" name="s5_shape25"/>
          <p:cNvSpPr txBox="1"/>
          <p:nvPr/>
        </p:nvSpPr>
        <p:spPr>
          <a:xfrm>
            <a:off x="658368" y="2729865"/>
            <a:ext cx="34290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14161F"/>
                </a:solidFill>
                <a:latin typeface="Roboto"/>
              </a:rPr>
              <a:t>What is a sale worth after year one?</a:t>
            </a:r>
          </a:p>
        </p:txBody>
      </p:sp>
      <p:sp>
        <p:nvSpPr>
          <p:cNvPr id="5027" name="s5_shape26"/>
          <p:cNvSpPr txBox="1"/>
          <p:nvPr/>
        </p:nvSpPr>
        <p:spPr>
          <a:xfrm>
            <a:off x="658368" y="2933065"/>
            <a:ext cx="34290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50" b="0" dirty="0">
                <a:solidFill>
                  <a:srgbClr val="667085"/>
                </a:solidFill>
                <a:latin typeface="Roboto"/>
              </a:rPr>
              <a:t>No renewal data in this file</a:t>
            </a:r>
            <a:endParaRPr sz="950" b="0" dirty="0">
              <a:solidFill>
                <a:srgbClr val="667085"/>
              </a:solidFill>
              <a:latin typeface="Roboto"/>
            </a:endParaRPr>
          </a:p>
        </p:txBody>
      </p:sp>
      <p:sp>
        <p:nvSpPr>
          <p:cNvPr id="5028" name="s5_shape27"/>
          <p:cNvSpPr/>
          <p:nvPr/>
        </p:nvSpPr>
        <p:spPr>
          <a:xfrm>
            <a:off x="4224528" y="2806065"/>
            <a:ext cx="219456" cy="237744"/>
          </a:xfrm>
          <a:prstGeom prst="chevron">
            <a:avLst/>
          </a:prstGeom>
          <a:solidFill>
            <a:srgbClr val="C9C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29" name="s5_shape28"/>
          <p:cNvSpPr txBox="1"/>
          <p:nvPr/>
        </p:nvSpPr>
        <p:spPr>
          <a:xfrm>
            <a:off x="4800600" y="2729865"/>
            <a:ext cx="37490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4161F"/>
                </a:solidFill>
                <a:latin typeface="Roboto"/>
              </a:rPr>
              <a:t>Track renewal and retention</a:t>
            </a:r>
          </a:p>
        </p:txBody>
      </p:sp>
      <p:sp>
        <p:nvSpPr>
          <p:cNvPr id="5030" name="s5_shape29"/>
          <p:cNvSpPr txBox="1"/>
          <p:nvPr/>
        </p:nvSpPr>
        <p:spPr>
          <a:xfrm>
            <a:off x="4800600" y="2933065"/>
            <a:ext cx="374903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Roboto"/>
              </a:rPr>
              <a:t>Puts a lifetime value on each lost sale</a:t>
            </a:r>
          </a:p>
        </p:txBody>
      </p:sp>
      <p:sp>
        <p:nvSpPr>
          <p:cNvPr id="5032" name="s5_shape31"/>
          <p:cNvSpPr txBox="1"/>
          <p:nvPr/>
        </p:nvSpPr>
        <p:spPr>
          <a:xfrm>
            <a:off x="658368" y="3330068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4161F"/>
                </a:solidFill>
                <a:latin typeface="Roboto"/>
              </a:rPr>
              <a:t>Where did people drop off?</a:t>
            </a:r>
          </a:p>
        </p:txBody>
      </p:sp>
      <p:sp>
        <p:nvSpPr>
          <p:cNvPr id="5033" name="s5_shape32"/>
          <p:cNvSpPr txBox="1"/>
          <p:nvPr/>
        </p:nvSpPr>
        <p:spPr>
          <a:xfrm>
            <a:off x="658368" y="3533268"/>
            <a:ext cx="34290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50" b="0" dirty="0">
                <a:solidFill>
                  <a:srgbClr val="667085"/>
                </a:solidFill>
                <a:latin typeface="Roboto"/>
              </a:rPr>
              <a:t>Visits are recorded, not sends or opens</a:t>
            </a:r>
            <a:endParaRPr sz="950" b="0" dirty="0">
              <a:solidFill>
                <a:srgbClr val="667085"/>
              </a:solidFill>
              <a:latin typeface="Roboto"/>
            </a:endParaRPr>
          </a:p>
        </p:txBody>
      </p:sp>
      <p:sp>
        <p:nvSpPr>
          <p:cNvPr id="5034" name="s5_shape33"/>
          <p:cNvSpPr/>
          <p:nvPr/>
        </p:nvSpPr>
        <p:spPr>
          <a:xfrm>
            <a:off x="4224528" y="3406268"/>
            <a:ext cx="219456" cy="237744"/>
          </a:xfrm>
          <a:prstGeom prst="chevron">
            <a:avLst/>
          </a:prstGeom>
          <a:solidFill>
            <a:srgbClr val="C9C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35" name="s5_shape34"/>
          <p:cNvSpPr txBox="1"/>
          <p:nvPr/>
        </p:nvSpPr>
        <p:spPr>
          <a:xfrm>
            <a:off x="4800600" y="3330068"/>
            <a:ext cx="37490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dirty="0">
                <a:solidFill>
                  <a:srgbClr val="14161F"/>
                </a:solidFill>
                <a:latin typeface="Roboto"/>
              </a:rPr>
              <a:t>Email send and open logs</a:t>
            </a:r>
          </a:p>
        </p:txBody>
      </p:sp>
      <p:sp>
        <p:nvSpPr>
          <p:cNvPr id="5036" name="s5_shape35"/>
          <p:cNvSpPr txBox="1"/>
          <p:nvPr/>
        </p:nvSpPr>
        <p:spPr>
          <a:xfrm>
            <a:off x="4800600" y="3533268"/>
            <a:ext cx="374903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>
                <a:solidFill>
                  <a:srgbClr val="667085"/>
                </a:solidFill>
                <a:latin typeface="Roboto"/>
              </a:rPr>
              <a:t>Pull it with the click history</a:t>
            </a:r>
          </a:p>
        </p:txBody>
      </p:sp>
      <p:sp>
        <p:nvSpPr>
          <p:cNvPr id="5101" name="s5_shape31"/>
          <p:cNvSpPr txBox="1"/>
          <p:nvPr/>
        </p:nvSpPr>
        <p:spPr>
          <a:xfrm>
            <a:off x="658368" y="3930270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4161F"/>
                </a:solidFill>
                <a:latin typeface="Roboto"/>
              </a:rPr>
              <a:t>What do buyers have in common?</a:t>
            </a:r>
          </a:p>
        </p:txBody>
      </p:sp>
      <p:sp>
        <p:nvSpPr>
          <p:cNvPr id="5102" name="s5_shape32"/>
          <p:cNvSpPr txBox="1"/>
          <p:nvPr/>
        </p:nvSpPr>
        <p:spPr>
          <a:xfrm>
            <a:off x="658368" y="4133470"/>
            <a:ext cx="3429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Roboto"/>
              </a:rPr>
              <a:t>Buyer details exist but haven’t been compared</a:t>
            </a:r>
          </a:p>
        </p:txBody>
      </p:sp>
      <p:sp>
        <p:nvSpPr>
          <p:cNvPr id="5103" name="s5_shape33"/>
          <p:cNvSpPr/>
          <p:nvPr/>
        </p:nvSpPr>
        <p:spPr>
          <a:xfrm>
            <a:off x="4224528" y="4006470"/>
            <a:ext cx="219456" cy="237744"/>
          </a:xfrm>
          <a:prstGeom prst="chevron">
            <a:avLst/>
          </a:prstGeom>
          <a:solidFill>
            <a:srgbClr val="C9C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04" name="s5_shape34"/>
          <p:cNvSpPr txBox="1"/>
          <p:nvPr/>
        </p:nvSpPr>
        <p:spPr>
          <a:xfrm>
            <a:off x="4800600" y="3930270"/>
            <a:ext cx="37490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4161F"/>
                </a:solidFill>
                <a:latin typeface="Roboto"/>
              </a:rPr>
              <a:t>Profile buyers vs. non-buyers</a:t>
            </a:r>
          </a:p>
        </p:txBody>
      </p:sp>
      <p:sp>
        <p:nvSpPr>
          <p:cNvPr id="5105" name="s5_shape35"/>
          <p:cNvSpPr txBox="1"/>
          <p:nvPr/>
        </p:nvSpPr>
        <p:spPr>
          <a:xfrm>
            <a:off x="4800600" y="4133470"/>
            <a:ext cx="374903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>
                <a:solidFill>
                  <a:srgbClr val="667085"/>
                </a:solidFill>
                <a:latin typeface="Roboto"/>
              </a:rPr>
              <a:t>FICO, loan, premium, home type. Data is in hand.</a:t>
            </a:r>
          </a:p>
        </p:txBody>
      </p:sp>
      <p:sp>
        <p:nvSpPr>
          <p:cNvPr id="5111" name="s5_shape31"/>
          <p:cNvSpPr txBox="1"/>
          <p:nvPr/>
        </p:nvSpPr>
        <p:spPr>
          <a:xfrm>
            <a:off x="658368" y="2135251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4161F"/>
                </a:solidFill>
                <a:latin typeface="Roboto"/>
              </a:rPr>
              <a:t>Which emails lead to sales?</a:t>
            </a:r>
          </a:p>
        </p:txBody>
      </p:sp>
      <p:sp>
        <p:nvSpPr>
          <p:cNvPr id="5112" name="s5_shape32"/>
          <p:cNvSpPr txBox="1"/>
          <p:nvPr/>
        </p:nvSpPr>
        <p:spPr>
          <a:xfrm>
            <a:off x="658368" y="2338451"/>
            <a:ext cx="3429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Roboto"/>
              </a:rPr>
              <a:t>Only the last click is recorded today</a:t>
            </a:r>
          </a:p>
        </p:txBody>
      </p:sp>
      <p:sp>
        <p:nvSpPr>
          <p:cNvPr id="5113" name="s5_shape33"/>
          <p:cNvSpPr/>
          <p:nvPr/>
        </p:nvSpPr>
        <p:spPr>
          <a:xfrm>
            <a:off x="4224528" y="2211451"/>
            <a:ext cx="219456" cy="237744"/>
          </a:xfrm>
          <a:prstGeom prst="chevron">
            <a:avLst/>
          </a:prstGeom>
          <a:solidFill>
            <a:srgbClr val="C9C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14" name="s5_shape34"/>
          <p:cNvSpPr txBox="1"/>
          <p:nvPr/>
        </p:nvSpPr>
        <p:spPr>
          <a:xfrm>
            <a:off x="4800600" y="2135251"/>
            <a:ext cx="37490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4161F"/>
                </a:solidFill>
                <a:latin typeface="Roboto"/>
              </a:rPr>
              <a:t>Multi-touch click history</a:t>
            </a:r>
          </a:p>
        </p:txBody>
      </p:sp>
      <p:sp>
        <p:nvSpPr>
          <p:cNvPr id="5115" name="s5_shape35"/>
          <p:cNvSpPr txBox="1"/>
          <p:nvPr/>
        </p:nvSpPr>
        <p:spPr>
          <a:xfrm>
            <a:off x="4800600" y="2338451"/>
            <a:ext cx="3749039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>
                <a:solidFill>
                  <a:srgbClr val="667085"/>
                </a:solidFill>
                <a:latin typeface="Roboto"/>
              </a:rPr>
              <a:t>Shows which emails people clicked before buying</a:t>
            </a:r>
            <a:endParaRPr sz="950" b="0" dirty="0">
              <a:solidFill>
                <a:srgbClr val="667085"/>
              </a:solidFill>
              <a:latin typeface="Roboto"/>
            </a:endParaRPr>
          </a:p>
        </p:txBody>
      </p:sp>
      <p:sp>
        <p:nvSpPr>
          <p:cNvPr id="5037" name="s5_shape36"/>
          <p:cNvSpPr/>
          <p:nvPr/>
        </p:nvSpPr>
        <p:spPr>
          <a:xfrm>
            <a:off x="457200" y="4508500"/>
            <a:ext cx="8229600" cy="355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38" name="s5_shape37"/>
          <p:cNvSpPr txBox="1"/>
          <p:nvPr/>
        </p:nvSpPr>
        <p:spPr>
          <a:xfrm>
            <a:off x="621792" y="4593967"/>
            <a:ext cx="79095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chemeClr val="tx1"/>
                </a:solidFill>
                <a:latin typeface="Roboto"/>
              </a:rPr>
              <a:t>Run the 6-email test first. It’s the only one that could change the decision.</a:t>
            </a:r>
            <a:r>
              <a:rPr sz="1200" b="0" dirty="0">
                <a:solidFill>
                  <a:srgbClr val="14161F"/>
                </a:solidFill>
                <a:latin typeface="Roboto"/>
              </a:rPr>
              <a:t/>
            </a:r>
            <a:endParaRPr sz="1200" b="0" dirty="0">
              <a:solidFill>
                <a:srgbClr val="14161F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204621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2" name="s6_shape1"/>
          <p:cNvSpPr txBox="1"/>
          <p:nvPr/>
        </p:nvSpPr>
        <p:spPr>
          <a:xfrm>
            <a:off x="457200" y="256032"/>
            <a:ext cx="5486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3B78DB"/>
                </a:solidFill>
                <a:latin typeface="Roboto"/>
                <a:ea typeface="Roboto"/>
                <a:cs typeface="Roboto"/>
                <a:sym typeface="Roboto"/>
              </a:rPr>
              <a:t>BACKUP  ·  WHICH EMAILS DROVE SALES</a:t>
            </a:r>
            <a:endParaRPr sz="1100" b="1">
              <a:solidFill>
                <a:srgbClr val="3B78D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3" name="s6_shape2"/>
          <p:cNvSpPr txBox="1"/>
          <p:nvPr/>
        </p:nvSpPr>
        <p:spPr>
          <a:xfrm>
            <a:off x="457200" y="530352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416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Emails 6 and 7 are the best cuts to test</a:t>
            </a:r>
            <a:endParaRPr sz="3000">
              <a:solidFill>
                <a:srgbClr val="1416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004" name="s6_shape3"/>
          <p:cNvSpPr/>
          <p:nvPr/>
        </p:nvSpPr>
        <p:spPr>
          <a:xfrm>
            <a:off x="457200" y="1298448"/>
            <a:ext cx="4709160" cy="2724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05" name="s6_shape4"/>
          <p:cNvSpPr txBox="1"/>
          <p:nvPr/>
        </p:nvSpPr>
        <p:spPr>
          <a:xfrm>
            <a:off x="685800" y="1444752"/>
            <a:ext cx="4251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667085"/>
                </a:solidFill>
                <a:latin typeface="Roboto"/>
              </a:rPr>
              <a:t>SALES BY LAST EMAIL CLICKED  ·  8-EMAIL GROUP</a:t>
            </a:r>
          </a:p>
        </p:txBody>
      </p:sp>
      <p:cxnSp>
        <p:nvCxnSpPr>
          <p:cNvPr id="6006" name="s6_shape5"/>
          <p:cNvCxnSpPr/>
          <p:nvPr/>
        </p:nvCxnSpPr>
        <p:spPr>
          <a:xfrm>
            <a:off x="640080" y="3401568"/>
            <a:ext cx="4343400" cy="0"/>
          </a:xfrm>
          <a:prstGeom prst="line">
            <a:avLst/>
          </a:prstGeom>
          <a:ln w="12700">
            <a:solidFill>
              <a:srgbClr val="D9DDE5"/>
            </a:solidFill>
          </a:ln>
        </p:spPr>
      </p:cxnSp>
      <p:sp>
        <p:nvSpPr>
          <p:cNvPr id="6007" name="s6_shape6"/>
          <p:cNvSpPr/>
          <p:nvPr/>
        </p:nvSpPr>
        <p:spPr>
          <a:xfrm>
            <a:off x="685800" y="2933216"/>
            <a:ext cx="347472" cy="468351"/>
          </a:xfrm>
          <a:prstGeom prst="rect">
            <a:avLst/>
          </a:prstGeom>
          <a:solidFill>
            <a:srgbClr val="3B78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08" name="s6_shape7"/>
          <p:cNvSpPr txBox="1"/>
          <p:nvPr/>
        </p:nvSpPr>
        <p:spPr>
          <a:xfrm>
            <a:off x="548640" y="2713760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4161F"/>
                </a:solidFill>
                <a:latin typeface="Roboto"/>
              </a:rPr>
              <a:t>20</a:t>
            </a:r>
          </a:p>
        </p:txBody>
      </p:sp>
      <p:sp>
        <p:nvSpPr>
          <p:cNvPr id="6009" name="s6_shape8"/>
          <p:cNvSpPr txBox="1"/>
          <p:nvPr/>
        </p:nvSpPr>
        <p:spPr>
          <a:xfrm>
            <a:off x="548640" y="3447288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Roboto"/>
              </a:rPr>
              <a:t>#1</a:t>
            </a:r>
          </a:p>
        </p:txBody>
      </p:sp>
      <p:sp>
        <p:nvSpPr>
          <p:cNvPr id="6010" name="s6_shape9"/>
          <p:cNvSpPr/>
          <p:nvPr/>
        </p:nvSpPr>
        <p:spPr>
          <a:xfrm>
            <a:off x="1243584" y="3026887"/>
            <a:ext cx="347472" cy="374680"/>
          </a:xfrm>
          <a:prstGeom prst="rect">
            <a:avLst/>
          </a:prstGeom>
          <a:solidFill>
            <a:srgbClr val="C9C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11" name="s6_shape10"/>
          <p:cNvSpPr txBox="1"/>
          <p:nvPr/>
        </p:nvSpPr>
        <p:spPr>
          <a:xfrm>
            <a:off x="1106424" y="2807431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4161F"/>
                </a:solidFill>
                <a:latin typeface="Roboto"/>
              </a:rPr>
              <a:t>16</a:t>
            </a:r>
          </a:p>
        </p:txBody>
      </p:sp>
      <p:sp>
        <p:nvSpPr>
          <p:cNvPr id="6012" name="s6_shape11"/>
          <p:cNvSpPr txBox="1"/>
          <p:nvPr/>
        </p:nvSpPr>
        <p:spPr>
          <a:xfrm>
            <a:off x="1106424" y="3447288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Roboto"/>
              </a:rPr>
              <a:t>#2</a:t>
            </a:r>
          </a:p>
        </p:txBody>
      </p:sp>
      <p:sp>
        <p:nvSpPr>
          <p:cNvPr id="6013" name="s6_shape12"/>
          <p:cNvSpPr/>
          <p:nvPr/>
        </p:nvSpPr>
        <p:spPr>
          <a:xfrm>
            <a:off x="1801368" y="3050304"/>
            <a:ext cx="347472" cy="351263"/>
          </a:xfrm>
          <a:prstGeom prst="rect">
            <a:avLst/>
          </a:prstGeom>
          <a:solidFill>
            <a:srgbClr val="C9C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14" name="s6_shape13"/>
          <p:cNvSpPr txBox="1"/>
          <p:nvPr/>
        </p:nvSpPr>
        <p:spPr>
          <a:xfrm>
            <a:off x="1664208" y="2830848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4161F"/>
                </a:solidFill>
                <a:latin typeface="Roboto"/>
              </a:rPr>
              <a:t>15</a:t>
            </a:r>
          </a:p>
        </p:txBody>
      </p:sp>
      <p:sp>
        <p:nvSpPr>
          <p:cNvPr id="6015" name="s6_shape14"/>
          <p:cNvSpPr txBox="1"/>
          <p:nvPr/>
        </p:nvSpPr>
        <p:spPr>
          <a:xfrm>
            <a:off x="1664208" y="3447288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Roboto"/>
              </a:rPr>
              <a:t>#3</a:t>
            </a:r>
          </a:p>
        </p:txBody>
      </p:sp>
      <p:sp>
        <p:nvSpPr>
          <p:cNvPr id="6016" name="s6_shape15"/>
          <p:cNvSpPr/>
          <p:nvPr/>
        </p:nvSpPr>
        <p:spPr>
          <a:xfrm>
            <a:off x="2359152" y="2441448"/>
            <a:ext cx="347472" cy="960120"/>
          </a:xfrm>
          <a:prstGeom prst="rect">
            <a:avLst/>
          </a:prstGeom>
          <a:solidFill>
            <a:srgbClr val="3B78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17" name="s6_shape16"/>
          <p:cNvSpPr txBox="1"/>
          <p:nvPr/>
        </p:nvSpPr>
        <p:spPr>
          <a:xfrm>
            <a:off x="2221992" y="2221991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4161F"/>
                </a:solidFill>
                <a:latin typeface="Roboto"/>
              </a:rPr>
              <a:t>41</a:t>
            </a:r>
          </a:p>
        </p:txBody>
      </p:sp>
      <p:sp>
        <p:nvSpPr>
          <p:cNvPr id="6018" name="s6_shape17"/>
          <p:cNvSpPr txBox="1"/>
          <p:nvPr/>
        </p:nvSpPr>
        <p:spPr>
          <a:xfrm>
            <a:off x="2221992" y="3447288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Roboto"/>
              </a:rPr>
              <a:t>#4</a:t>
            </a:r>
          </a:p>
        </p:txBody>
      </p:sp>
      <p:sp>
        <p:nvSpPr>
          <p:cNvPr id="6019" name="s6_shape18"/>
          <p:cNvSpPr/>
          <p:nvPr/>
        </p:nvSpPr>
        <p:spPr>
          <a:xfrm>
            <a:off x="2916936" y="3190809"/>
            <a:ext cx="347472" cy="210758"/>
          </a:xfrm>
          <a:prstGeom prst="rect">
            <a:avLst/>
          </a:prstGeom>
          <a:solidFill>
            <a:srgbClr val="3B78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0" name="s6_shape19"/>
          <p:cNvSpPr txBox="1"/>
          <p:nvPr/>
        </p:nvSpPr>
        <p:spPr>
          <a:xfrm>
            <a:off x="2779776" y="2971353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4161F"/>
                </a:solidFill>
                <a:latin typeface="Roboto"/>
              </a:rPr>
              <a:t>9</a:t>
            </a:r>
          </a:p>
        </p:txBody>
      </p:sp>
      <p:sp>
        <p:nvSpPr>
          <p:cNvPr id="6021" name="s6_shape20"/>
          <p:cNvSpPr txBox="1"/>
          <p:nvPr/>
        </p:nvSpPr>
        <p:spPr>
          <a:xfrm>
            <a:off x="2779776" y="3447288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Roboto"/>
              </a:rPr>
              <a:t>#5</a:t>
            </a:r>
          </a:p>
        </p:txBody>
      </p:sp>
      <p:sp>
        <p:nvSpPr>
          <p:cNvPr id="6022" name="s6_shape21"/>
          <p:cNvSpPr/>
          <p:nvPr/>
        </p:nvSpPr>
        <p:spPr>
          <a:xfrm>
            <a:off x="3474720" y="3214227"/>
            <a:ext cx="347472" cy="187340"/>
          </a:xfrm>
          <a:prstGeom prst="rect">
            <a:avLst/>
          </a:prstGeom>
          <a:solidFill>
            <a:srgbClr val="E2506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3" name="s6_shape22"/>
          <p:cNvSpPr txBox="1"/>
          <p:nvPr/>
        </p:nvSpPr>
        <p:spPr>
          <a:xfrm>
            <a:off x="3337560" y="2994771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2506B"/>
                </a:solidFill>
                <a:latin typeface="Roboto"/>
              </a:rPr>
              <a:t>8</a:t>
            </a:r>
          </a:p>
        </p:txBody>
      </p:sp>
      <p:sp>
        <p:nvSpPr>
          <p:cNvPr id="6024" name="s6_shape23"/>
          <p:cNvSpPr txBox="1"/>
          <p:nvPr/>
        </p:nvSpPr>
        <p:spPr>
          <a:xfrm>
            <a:off x="3337560" y="3447288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E2506B"/>
                </a:solidFill>
                <a:latin typeface="Roboto"/>
              </a:rPr>
              <a:t>#6</a:t>
            </a:r>
          </a:p>
        </p:txBody>
      </p:sp>
      <p:sp>
        <p:nvSpPr>
          <p:cNvPr id="6025" name="s6_shape24"/>
          <p:cNvSpPr/>
          <p:nvPr/>
        </p:nvSpPr>
        <p:spPr>
          <a:xfrm>
            <a:off x="4032504" y="3284480"/>
            <a:ext cx="347472" cy="117087"/>
          </a:xfrm>
          <a:prstGeom prst="rect">
            <a:avLst/>
          </a:prstGeom>
          <a:solidFill>
            <a:srgbClr val="E2506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6" name="s6_shape25"/>
          <p:cNvSpPr txBox="1"/>
          <p:nvPr/>
        </p:nvSpPr>
        <p:spPr>
          <a:xfrm>
            <a:off x="3895344" y="3065024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2506B"/>
                </a:solidFill>
                <a:latin typeface="Roboto"/>
              </a:rPr>
              <a:t>5</a:t>
            </a:r>
          </a:p>
        </p:txBody>
      </p:sp>
      <p:sp>
        <p:nvSpPr>
          <p:cNvPr id="6027" name="s6_shape26"/>
          <p:cNvSpPr txBox="1"/>
          <p:nvPr/>
        </p:nvSpPr>
        <p:spPr>
          <a:xfrm>
            <a:off x="3895344" y="3447288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E2506B"/>
                </a:solidFill>
                <a:latin typeface="Roboto"/>
              </a:rPr>
              <a:t>#7</a:t>
            </a:r>
          </a:p>
        </p:txBody>
      </p:sp>
      <p:sp>
        <p:nvSpPr>
          <p:cNvPr id="6028" name="s6_shape27"/>
          <p:cNvSpPr/>
          <p:nvPr/>
        </p:nvSpPr>
        <p:spPr>
          <a:xfrm>
            <a:off x="4590288" y="3026887"/>
            <a:ext cx="347472" cy="374680"/>
          </a:xfrm>
          <a:prstGeom prst="rect">
            <a:avLst/>
          </a:prstGeom>
          <a:solidFill>
            <a:srgbClr val="3B78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29" name="s6_shape28"/>
          <p:cNvSpPr txBox="1"/>
          <p:nvPr/>
        </p:nvSpPr>
        <p:spPr>
          <a:xfrm>
            <a:off x="4453128" y="2807431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4161F"/>
                </a:solidFill>
                <a:latin typeface="Roboto"/>
              </a:rPr>
              <a:t>16</a:t>
            </a:r>
          </a:p>
        </p:txBody>
      </p:sp>
      <p:sp>
        <p:nvSpPr>
          <p:cNvPr id="6030" name="s6_shape29"/>
          <p:cNvSpPr txBox="1"/>
          <p:nvPr/>
        </p:nvSpPr>
        <p:spPr>
          <a:xfrm>
            <a:off x="4453128" y="3447288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Roboto"/>
              </a:rPr>
              <a:t>#8</a:t>
            </a:r>
          </a:p>
        </p:txBody>
      </p:sp>
      <p:sp>
        <p:nvSpPr>
          <p:cNvPr id="6031" name="s6_shape30"/>
          <p:cNvSpPr txBox="1"/>
          <p:nvPr/>
        </p:nvSpPr>
        <p:spPr>
          <a:xfrm>
            <a:off x="685800" y="168249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4161F"/>
                </a:solidFill>
                <a:latin typeface="Roboto"/>
              </a:rPr>
              <a:t>Each email link is tagged with its number. </a:t>
            </a:r>
            <a:r>
              <a:rPr sz="900" b="0">
                <a:solidFill>
                  <a:srgbClr val="14161F"/>
                </a:solidFill>
                <a:latin typeface="Roboto"/>
              </a:rPr>
              <a:t>The data keeps only the tag from the last link a person clicked, so each sale counts toward that one email.</a:t>
            </a:r>
          </a:p>
        </p:txBody>
      </p:sp>
      <p:sp>
        <p:nvSpPr>
          <p:cNvPr id="6032" name="s6_shape31"/>
          <p:cNvSpPr/>
          <p:nvPr/>
        </p:nvSpPr>
        <p:spPr>
          <a:xfrm>
            <a:off x="685800" y="3767328"/>
            <a:ext cx="109728" cy="109728"/>
          </a:xfrm>
          <a:prstGeom prst="ellipse">
            <a:avLst/>
          </a:prstGeom>
          <a:solidFill>
            <a:srgbClr val="3B78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33" name="s6_shape32"/>
          <p:cNvSpPr txBox="1"/>
          <p:nvPr/>
        </p:nvSpPr>
        <p:spPr>
          <a:xfrm>
            <a:off x="850392" y="372160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67085"/>
                </a:solidFill>
                <a:latin typeface="Roboto"/>
              </a:rPr>
              <a:t>Sent to both groups</a:t>
            </a:r>
          </a:p>
        </p:txBody>
      </p:sp>
      <p:sp>
        <p:nvSpPr>
          <p:cNvPr id="6034" name="s6_shape33"/>
          <p:cNvSpPr/>
          <p:nvPr/>
        </p:nvSpPr>
        <p:spPr>
          <a:xfrm>
            <a:off x="2167128" y="3767328"/>
            <a:ext cx="109728" cy="109728"/>
          </a:xfrm>
          <a:prstGeom prst="ellipse">
            <a:avLst/>
          </a:prstGeom>
          <a:solidFill>
            <a:srgbClr val="C9C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35" name="s6_shape34"/>
          <p:cNvSpPr txBox="1"/>
          <p:nvPr/>
        </p:nvSpPr>
        <p:spPr>
          <a:xfrm>
            <a:off x="2331720" y="372160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67085"/>
                </a:solidFill>
                <a:latin typeface="Roboto"/>
              </a:rPr>
              <a:t>Cut in test, keep next</a:t>
            </a:r>
          </a:p>
        </p:txBody>
      </p:sp>
      <p:sp>
        <p:nvSpPr>
          <p:cNvPr id="6036" name="s6_shape35"/>
          <p:cNvSpPr/>
          <p:nvPr/>
        </p:nvSpPr>
        <p:spPr>
          <a:xfrm>
            <a:off x="3648456" y="3767328"/>
            <a:ext cx="109728" cy="109728"/>
          </a:xfrm>
          <a:prstGeom prst="ellipse">
            <a:avLst/>
          </a:prstGeom>
          <a:solidFill>
            <a:srgbClr val="E2506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37" name="s6_shape36"/>
          <p:cNvSpPr txBox="1"/>
          <p:nvPr/>
        </p:nvSpPr>
        <p:spPr>
          <a:xfrm>
            <a:off x="3813048" y="372160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67085"/>
                </a:solidFill>
                <a:latin typeface="Roboto"/>
              </a:rPr>
              <a:t>Cut in test, drop next</a:t>
            </a:r>
          </a:p>
        </p:txBody>
      </p:sp>
      <p:sp>
        <p:nvSpPr>
          <p:cNvPr id="6038" name="s6_shape37"/>
          <p:cNvSpPr/>
          <p:nvPr/>
        </p:nvSpPr>
        <p:spPr>
          <a:xfrm>
            <a:off x="5349240" y="1298448"/>
            <a:ext cx="3337560" cy="2724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39" name="s6_shape38"/>
          <p:cNvSpPr txBox="1"/>
          <p:nvPr/>
        </p:nvSpPr>
        <p:spPr>
          <a:xfrm>
            <a:off x="5577840" y="1444752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667085"/>
                </a:solidFill>
                <a:latin typeface="Roboto"/>
              </a:rPr>
              <a:t>CREDITED VS. ACTUALLY LOST</a:t>
            </a:r>
          </a:p>
        </p:txBody>
      </p:sp>
      <p:sp>
        <p:nvSpPr>
          <p:cNvPr id="6040" name="s6_shape39"/>
          <p:cNvSpPr txBox="1"/>
          <p:nvPr/>
        </p:nvSpPr>
        <p:spPr>
          <a:xfrm>
            <a:off x="5577840" y="1810512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4161F"/>
                </a:solidFill>
                <a:latin typeface="Roboto"/>
              </a:rPr>
              <a:t>Credited to the 4 cut emails (16 + 15 + 8 + 5)</a:t>
            </a:r>
          </a:p>
        </p:txBody>
      </p:sp>
      <p:sp>
        <p:nvSpPr>
          <p:cNvPr id="6041" name="s6_shape40"/>
          <p:cNvSpPr/>
          <p:nvPr/>
        </p:nvSpPr>
        <p:spPr>
          <a:xfrm>
            <a:off x="5577840" y="2048256"/>
            <a:ext cx="2880360" cy="310896"/>
          </a:xfrm>
          <a:prstGeom prst="rect">
            <a:avLst/>
          </a:prstGeom>
          <a:solidFill>
            <a:srgbClr val="C9CED8"/>
          </a:solidFill>
          <a:ln>
            <a:noFill/>
          </a:ln>
        </p:spPr>
        <p:txBody>
          <a:bodyPr wrap="square" tIns="0" rIns="0" bIns="0" rtlCol="0" anchor="ctr"/>
          <a:lstStyle/>
          <a:p>
            <a:pPr algn="l"/>
            <a:r>
              <a:rPr sz="1200" b="1">
                <a:solidFill>
                  <a:srgbClr val="14161F"/>
                </a:solidFill>
                <a:latin typeface="Roboto"/>
              </a:rPr>
              <a:t>44</a:t>
            </a:r>
          </a:p>
        </p:txBody>
      </p:sp>
      <p:sp>
        <p:nvSpPr>
          <p:cNvPr id="6042" name="s6_shape41"/>
          <p:cNvSpPr txBox="1"/>
          <p:nvPr/>
        </p:nvSpPr>
        <p:spPr>
          <a:xfrm>
            <a:off x="5577840" y="2523744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4161F"/>
                </a:solidFill>
                <a:latin typeface="Roboto"/>
              </a:rPr>
              <a:t>Actually lost when cut (130 − 98)</a:t>
            </a:r>
          </a:p>
        </p:txBody>
      </p:sp>
      <p:sp>
        <p:nvSpPr>
          <p:cNvPr id="6043" name="s6_shape42"/>
          <p:cNvSpPr/>
          <p:nvPr/>
        </p:nvSpPr>
        <p:spPr>
          <a:xfrm>
            <a:off x="5577840" y="2761487"/>
            <a:ext cx="2094807" cy="310896"/>
          </a:xfrm>
          <a:prstGeom prst="rect">
            <a:avLst/>
          </a:prstGeom>
          <a:solidFill>
            <a:srgbClr val="E2506B"/>
          </a:solidFill>
          <a:ln>
            <a:noFill/>
          </a:ln>
        </p:spPr>
        <p:txBody>
          <a:bodyPr wrap="square" tIns="0" rIns="0" bIns="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Roboto"/>
              </a:rPr>
              <a:t>32</a:t>
            </a:r>
          </a:p>
        </p:txBody>
      </p:sp>
      <p:sp>
        <p:nvSpPr>
          <p:cNvPr id="6044" name="s6_shape43"/>
          <p:cNvSpPr txBox="1"/>
          <p:nvPr/>
        </p:nvSpPr>
        <p:spPr>
          <a:xfrm>
            <a:off x="5577840" y="329184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B78DB"/>
                </a:solidFill>
                <a:latin typeface="Roboto"/>
              </a:rPr>
              <a:t>≈12–13 </a:t>
            </a:r>
            <a:r>
              <a:rPr sz="1000" b="0">
                <a:solidFill>
                  <a:srgbClr val="14161F"/>
                </a:solidFill>
                <a:latin typeface="Roboto"/>
              </a:rPr>
              <a:t>would have bought anyway through another email (44 − 32).</a:t>
            </a:r>
          </a:p>
          <a:p>
            <a:pPr algn="l"/>
            <a:r>
              <a:rPr sz="850" b="0">
                <a:solidFill>
                  <a:srgbClr val="667085"/>
                </a:solidFill>
                <a:latin typeface="Roboto"/>
              </a:rPr>
              <a:t>Visitors only. 12 raw; 13 with groups evened in size.</a:t>
            </a:r>
          </a:p>
        </p:txBody>
      </p:sp>
      <p:sp>
        <p:nvSpPr>
          <p:cNvPr id="6045" name="s6_shape44"/>
          <p:cNvSpPr/>
          <p:nvPr/>
        </p:nvSpPr>
        <p:spPr>
          <a:xfrm>
            <a:off x="457200" y="4206240"/>
            <a:ext cx="822960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46" name="s6_shape45"/>
          <p:cNvSpPr txBox="1"/>
          <p:nvPr/>
        </p:nvSpPr>
        <p:spPr>
          <a:xfrm>
            <a:off x="621792" y="4251960"/>
            <a:ext cx="7909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4161F"/>
                </a:solidFill>
                <a:latin typeface="Roboto"/>
              </a:rPr>
              <a:t>Drop 6 and 7 in the next test.</a:t>
            </a:r>
            <a:r>
              <a:rPr sz="1200" b="0">
                <a:solidFill>
                  <a:srgbClr val="14161F"/>
                </a:solidFill>
                <a:latin typeface="Roboto"/>
              </a:rPr>
              <a:t> Judge it on total visits and sales, because per-email credit is small and overlaps.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1E399A2-ED34-4D62-A6E2-A8C7201AFFCC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6ea170eb-a848-4ced-83e9-682a8a5c2ae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962</Words>
  <Application>Microsoft Office PowerPoint</Application>
  <PresentationFormat>On-screen Show (16:9)</PresentationFormat>
  <Paragraphs>156</Paragraphs>
  <Slides>5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DM Serif Display</vt:lpstr>
      <vt:lpstr>Roboto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Ryan Osborne</cp:lastModifiedBy>
  <cp:revision>4</cp:revision>
  <dcterms:modified xsi:type="dcterms:W3CDTF">2026-10-19T19:04:44Z</dcterms:modified>
</cp:coreProperties>
</file>